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63" r:id="rId29"/>
    <p:sldId id="264" r:id="rId30"/>
    <p:sldId id="265" r:id="rId31"/>
    <p:sldId id="266" r:id="rId32"/>
    <p:sldId id="267" r:id="rId33"/>
    <p:sldId id="268" r:id="rId34"/>
    <p:sldId id="269" r:id="rId35"/>
    <p:sldId id="270" r:id="rId36"/>
    <p:sldId id="271" r:id="rId37"/>
    <p:sldId id="272" r:id="rId38"/>
    <p:sldId id="273" r:id="rId39"/>
    <p:sldId id="274" r:id="rId40"/>
    <p:sldId id="275" r:id="rId41"/>
    <p:sldId id="276" r:id="rId42"/>
    <p:sldId id="277" r:id="rId43"/>
    <p:sldId id="278" r:id="rId44"/>
    <p:sldId id="279" r:id="rId45"/>
  </p:sldIdLst>
  <p:sldSz cy="5143500" cx="9144000"/>
  <p:notesSz cx="6858000" cy="9144000"/>
  <p:embeddedFontLst>
    <p:embeddedFont>
      <p:font typeface="Roboto"/>
      <p:regular r:id="rId14"/>
      <p:bold r:id="rId15"/>
      <p:italic r:id="rId16"/>
      <p:boldItalic r:id="rId17"/>
    </p:embeddedFont>
    <p:embeddedFont>
      <p:font typeface="DM Sans Light"/>
      <p:regular r:id="rId18"/>
      <p:bold r:id="rId19"/>
      <p:italic r:id="rId20"/>
      <p:boldItalic r:id="rId21"/>
    </p:embeddedFont>
    <p:embeddedFont>
      <p:font typeface="DM Sans"/>
      <p:regular r:id="rId22"/>
      <p:bold r:id="rId23"/>
      <p:italic r:id="rId24"/>
      <p:boldItalic r:id="rId25"/>
    </p:embeddedFont>
    <p:embeddedFont>
      <p:font typeface="DM Mono"/>
      <p:regular r:id="rId26"/>
      <p: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8" roundtripDataSignature="AMtx7miN4SNf3a1FfKM85rXOvPA+Vg0i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70D2BA-9617-4BF3-B3EC-A2AA27411165}">
  <a:tblStyle styleId="{9270D2BA-9617-4BF3-B3EC-A2AA2741116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14" Type="http://schemas.openxmlformats.org/officeDocument/2006/relationships/font" Target="fonts/Roboto-regular.fntdata"/><Relationship Id="rId15" Type="http://schemas.openxmlformats.org/officeDocument/2006/relationships/font" Target="fonts/Roboto-bold.fntdata"/><Relationship Id="rId16" Type="http://schemas.openxmlformats.org/officeDocument/2006/relationships/font" Target="fonts/Roboto-italic.fntdata"/><Relationship Id="rId17" Type="http://schemas.openxmlformats.org/officeDocument/2006/relationships/font" Target="fonts/Roboto-boldItalic.fntdata"/><Relationship Id="rId18" Type="http://schemas.openxmlformats.org/officeDocument/2006/relationships/font" Target="fonts/DMSansLight-regular.fntdata"/><Relationship Id="rId19" Type="http://schemas.openxmlformats.org/officeDocument/2006/relationships/font" Target="fonts/DMSansLight-bold.fntdata"/><Relationship Id="rId20" Type="http://schemas.openxmlformats.org/officeDocument/2006/relationships/font" Target="fonts/DMSansLight-italic.fntdata"/><Relationship Id="rId21" Type="http://schemas.openxmlformats.org/officeDocument/2006/relationships/font" Target="fonts/DMSansLight-boldItalic.fntdata"/><Relationship Id="rId22" Type="http://schemas.openxmlformats.org/officeDocument/2006/relationships/font" Target="fonts/DMSans-regular.fntdata"/><Relationship Id="rId23" Type="http://schemas.openxmlformats.org/officeDocument/2006/relationships/font" Target="fonts/DMSans-bold.fntdata"/><Relationship Id="rId24" Type="http://schemas.openxmlformats.org/officeDocument/2006/relationships/font" Target="fonts/DMSans-italic.fntdata"/><Relationship Id="rId25" Type="http://schemas.openxmlformats.org/officeDocument/2006/relationships/font" Target="fonts/DMSans-boldItalic.fntdata"/><Relationship Id="rId26" Type="http://schemas.openxmlformats.org/officeDocument/2006/relationships/font" Target="fonts/DMMono-regular.fntdata"/><Relationship Id="rId27" Type="http://schemas.openxmlformats.org/officeDocument/2006/relationships/font" Target="fonts/DMMono-italic.fntdata"/><Relationship Id="rId28" Type="http://customschemas.google.com/relationships/presentationmetadata" Target="metadata"/><Relationship Id="rId29" Type="http://schemas.openxmlformats.org/officeDocument/2006/relationships/slide" Target="slides/slide8.xml"/><Relationship Id="rId30" Type="http://schemas.openxmlformats.org/officeDocument/2006/relationships/slide" Target="slides/slide9.xml"/><Relationship Id="rId31" Type="http://schemas.openxmlformats.org/officeDocument/2006/relationships/slide" Target="slides/slide10.xml"/><Relationship Id="rId32" Type="http://schemas.openxmlformats.org/officeDocument/2006/relationships/slide" Target="slides/slide11.xml"/><Relationship Id="rId33" Type="http://schemas.openxmlformats.org/officeDocument/2006/relationships/slide" Target="slides/slide12.xml"/><Relationship Id="rId34" Type="http://schemas.openxmlformats.org/officeDocument/2006/relationships/slide" Target="slides/slide13.xml"/><Relationship Id="rId35" Type="http://schemas.openxmlformats.org/officeDocument/2006/relationships/slide" Target="slides/slide14.xml"/><Relationship Id="rId36" Type="http://schemas.openxmlformats.org/officeDocument/2006/relationships/slide" Target="slides/slide15.xml"/><Relationship Id="rId37" Type="http://schemas.openxmlformats.org/officeDocument/2006/relationships/slide" Target="slides/slide16.xml"/><Relationship Id="rId38" Type="http://schemas.openxmlformats.org/officeDocument/2006/relationships/slide" Target="slides/slide17.xml"/><Relationship Id="rId39" Type="http://schemas.openxmlformats.org/officeDocument/2006/relationships/slide" Target="slides/slide18.xml"/><Relationship Id="rId40" Type="http://schemas.openxmlformats.org/officeDocument/2006/relationships/slide" Target="slides/slide19.xml"/><Relationship Id="rId41" Type="http://schemas.openxmlformats.org/officeDocument/2006/relationships/slide" Target="slides/slide20.xml"/><Relationship Id="rId42" Type="http://schemas.openxmlformats.org/officeDocument/2006/relationships/slide" Target="slides/slide21.xml"/><Relationship Id="rId43" Type="http://schemas.openxmlformats.org/officeDocument/2006/relationships/slide" Target="slides/slide22.xml"/><Relationship Id="rId44" Type="http://schemas.openxmlformats.org/officeDocument/2006/relationships/slide" Target="slides/slide23.xml"/><Relationship Id="rId45"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TITLE_2">
    <p:bg>
      <p:bgPr>
        <a:solidFill>
          <a:srgbClr val="292929"/>
        </a:solidFill>
      </p:bgPr>
    </p:bg>
    <p:spTree>
      <p:nvGrpSpPr>
        <p:cNvPr id="9" name="Shape 9"/>
        <p:cNvGrpSpPr/>
        <p:nvPr/>
      </p:nvGrpSpPr>
      <p:grpSpPr>
        <a:xfrm>
          <a:off x="0" y="0"/>
          <a:ext cx="0" cy="0"/>
          <a:chOff x="0" y="0"/>
          <a:chExt cx="0" cy="0"/>
        </a:xfrm>
      </p:grpSpPr>
      <p:sp>
        <p:nvSpPr>
          <p:cNvPr id="10" name="Google Shape;10;g3e4bc65dc50_0_45"/>
          <p:cNvSpPr txBox="1"/>
          <p:nvPr>
            <p:ph type="ctrTitle"/>
          </p:nvPr>
        </p:nvSpPr>
        <p:spPr>
          <a:xfrm>
            <a:off x="311704" y="1691650"/>
            <a:ext cx="4254900" cy="2052600"/>
          </a:xfrm>
          <a:prstGeom prst="rect">
            <a:avLst/>
          </a:prstGeom>
          <a:noFill/>
          <a:ln>
            <a:noFill/>
          </a:ln>
        </p:spPr>
        <p:txBody>
          <a:bodyPr anchorCtr="0" anchor="b" bIns="91425" lIns="91425" spcFirstLastPara="1" rIns="91425" wrap="square" tIns="91425">
            <a:noAutofit/>
          </a:bodyPr>
          <a:lstStyle>
            <a:lvl1pPr lvl="0" algn="l">
              <a:lnSpc>
                <a:spcPct val="95000"/>
              </a:lnSpc>
              <a:spcBef>
                <a:spcPts val="0"/>
              </a:spcBef>
              <a:spcAft>
                <a:spcPts val="0"/>
              </a:spcAft>
              <a:buClr>
                <a:schemeClr val="lt1"/>
              </a:buClr>
              <a:buSzPts val="5500"/>
              <a:buNone/>
              <a:defRPr sz="5500">
                <a:solidFill>
                  <a:schemeClr val="lt1"/>
                </a:solidFill>
              </a:defRPr>
            </a:lvl1pPr>
            <a:lvl2pPr lvl="1" algn="l">
              <a:lnSpc>
                <a:spcPct val="90000"/>
              </a:lnSpc>
              <a:spcBef>
                <a:spcPts val="0"/>
              </a:spcBef>
              <a:spcAft>
                <a:spcPts val="0"/>
              </a:spcAft>
              <a:buClr>
                <a:schemeClr val="lt1"/>
              </a:buClr>
              <a:buSzPts val="5200"/>
              <a:buNone/>
              <a:defRPr sz="5200">
                <a:solidFill>
                  <a:schemeClr val="lt1"/>
                </a:solidFill>
              </a:defRPr>
            </a:lvl2pPr>
            <a:lvl3pPr lvl="2" algn="l">
              <a:lnSpc>
                <a:spcPct val="90000"/>
              </a:lnSpc>
              <a:spcBef>
                <a:spcPts val="0"/>
              </a:spcBef>
              <a:spcAft>
                <a:spcPts val="0"/>
              </a:spcAft>
              <a:buClr>
                <a:schemeClr val="lt1"/>
              </a:buClr>
              <a:buSzPts val="5200"/>
              <a:buNone/>
              <a:defRPr sz="5200">
                <a:solidFill>
                  <a:schemeClr val="lt1"/>
                </a:solidFill>
              </a:defRPr>
            </a:lvl3pPr>
            <a:lvl4pPr lvl="3" algn="l">
              <a:lnSpc>
                <a:spcPct val="90000"/>
              </a:lnSpc>
              <a:spcBef>
                <a:spcPts val="0"/>
              </a:spcBef>
              <a:spcAft>
                <a:spcPts val="0"/>
              </a:spcAft>
              <a:buClr>
                <a:schemeClr val="lt1"/>
              </a:buClr>
              <a:buSzPts val="5200"/>
              <a:buNone/>
              <a:defRPr sz="5200">
                <a:solidFill>
                  <a:schemeClr val="lt1"/>
                </a:solidFill>
              </a:defRPr>
            </a:lvl4pPr>
            <a:lvl5pPr lvl="4" algn="l">
              <a:lnSpc>
                <a:spcPct val="90000"/>
              </a:lnSpc>
              <a:spcBef>
                <a:spcPts val="0"/>
              </a:spcBef>
              <a:spcAft>
                <a:spcPts val="0"/>
              </a:spcAft>
              <a:buClr>
                <a:schemeClr val="lt1"/>
              </a:buClr>
              <a:buSzPts val="5200"/>
              <a:buNone/>
              <a:defRPr sz="5200">
                <a:solidFill>
                  <a:schemeClr val="lt1"/>
                </a:solidFill>
              </a:defRPr>
            </a:lvl5pPr>
            <a:lvl6pPr lvl="5" algn="l">
              <a:lnSpc>
                <a:spcPct val="90000"/>
              </a:lnSpc>
              <a:spcBef>
                <a:spcPts val="0"/>
              </a:spcBef>
              <a:spcAft>
                <a:spcPts val="0"/>
              </a:spcAft>
              <a:buClr>
                <a:schemeClr val="lt1"/>
              </a:buClr>
              <a:buSzPts val="5200"/>
              <a:buNone/>
              <a:defRPr sz="5200">
                <a:solidFill>
                  <a:schemeClr val="lt1"/>
                </a:solidFill>
              </a:defRPr>
            </a:lvl6pPr>
            <a:lvl7pPr lvl="6" algn="l">
              <a:lnSpc>
                <a:spcPct val="90000"/>
              </a:lnSpc>
              <a:spcBef>
                <a:spcPts val="0"/>
              </a:spcBef>
              <a:spcAft>
                <a:spcPts val="0"/>
              </a:spcAft>
              <a:buClr>
                <a:schemeClr val="lt1"/>
              </a:buClr>
              <a:buSzPts val="5200"/>
              <a:buNone/>
              <a:defRPr sz="5200">
                <a:solidFill>
                  <a:schemeClr val="lt1"/>
                </a:solidFill>
              </a:defRPr>
            </a:lvl7pPr>
            <a:lvl8pPr lvl="7" algn="l">
              <a:lnSpc>
                <a:spcPct val="90000"/>
              </a:lnSpc>
              <a:spcBef>
                <a:spcPts val="0"/>
              </a:spcBef>
              <a:spcAft>
                <a:spcPts val="0"/>
              </a:spcAft>
              <a:buClr>
                <a:schemeClr val="lt1"/>
              </a:buClr>
              <a:buSzPts val="5200"/>
              <a:buNone/>
              <a:defRPr sz="5200">
                <a:solidFill>
                  <a:schemeClr val="lt1"/>
                </a:solidFill>
              </a:defRPr>
            </a:lvl8pPr>
            <a:lvl9pPr lvl="8" algn="l">
              <a:lnSpc>
                <a:spcPct val="90000"/>
              </a:lnSpc>
              <a:spcBef>
                <a:spcPts val="0"/>
              </a:spcBef>
              <a:spcAft>
                <a:spcPts val="0"/>
              </a:spcAft>
              <a:buClr>
                <a:schemeClr val="lt1"/>
              </a:buClr>
              <a:buSzPts val="5200"/>
              <a:buNone/>
              <a:defRPr sz="5200">
                <a:solidFill>
                  <a:schemeClr val="lt1"/>
                </a:solidFill>
              </a:defRPr>
            </a:lvl9pPr>
          </a:lstStyle>
          <a:p/>
        </p:txBody>
      </p:sp>
      <p:sp>
        <p:nvSpPr>
          <p:cNvPr id="11" name="Google Shape;11;g3e4bc65dc50_0_45"/>
          <p:cNvSpPr txBox="1"/>
          <p:nvPr>
            <p:ph idx="1" type="subTitle"/>
          </p:nvPr>
        </p:nvSpPr>
        <p:spPr>
          <a:xfrm>
            <a:off x="311700" y="3794760"/>
            <a:ext cx="85206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1pPr>
            <a:lvl2pPr lvl="1" algn="l">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2pPr>
            <a:lvl3pPr lvl="2" algn="l">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3pPr>
            <a:lvl4pPr lvl="3" algn="l">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4pPr>
            <a:lvl5pPr lvl="4" algn="l">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5pPr>
            <a:lvl6pPr lvl="5" algn="l">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6pPr>
            <a:lvl7pPr lvl="6" algn="l">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7pPr>
            <a:lvl8pPr lvl="7" algn="l">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8pPr>
            <a:lvl9pPr lvl="8" algn="l">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9pPr>
          </a:lstStyle>
          <a:p/>
        </p:txBody>
      </p:sp>
      <p:pic>
        <p:nvPicPr>
          <p:cNvPr id="12" name="Google Shape;12;g3e4bc65dc50_0_45"/>
          <p:cNvPicPr preferRelativeResize="0"/>
          <p:nvPr/>
        </p:nvPicPr>
        <p:blipFill rotWithShape="1">
          <a:blip r:embed="rId2">
            <a:alphaModFix/>
          </a:blip>
          <a:srcRect b="4538" l="0" r="15132" t="4710"/>
          <a:stretch/>
        </p:blipFill>
        <p:spPr>
          <a:xfrm>
            <a:off x="3547625" y="0"/>
            <a:ext cx="5596375" cy="514350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
  <p:cSld name="TITLE_AND_BODY_1">
    <p:spTree>
      <p:nvGrpSpPr>
        <p:cNvPr id="13" name="Shape 13"/>
        <p:cNvGrpSpPr/>
        <p:nvPr/>
      </p:nvGrpSpPr>
      <p:grpSpPr>
        <a:xfrm>
          <a:off x="0" y="0"/>
          <a:ext cx="0" cy="0"/>
          <a:chOff x="0" y="0"/>
          <a:chExt cx="0" cy="0"/>
        </a:xfrm>
      </p:grpSpPr>
      <p:sp>
        <p:nvSpPr>
          <p:cNvPr id="14" name="Google Shape;14;g3e4bc65dc50_0_52"/>
          <p:cNvSpPr/>
          <p:nvPr>
            <p:ph idx="2" type="pic"/>
          </p:nvPr>
        </p:nvSpPr>
        <p:spPr>
          <a:xfrm>
            <a:off x="4413400" y="610975"/>
            <a:ext cx="4602900" cy="4324500"/>
          </a:xfrm>
          <a:prstGeom prst="rect">
            <a:avLst/>
          </a:prstGeom>
          <a:solidFill>
            <a:srgbClr val="F8F8F8"/>
          </a:solidFill>
          <a:ln>
            <a:noFill/>
          </a:ln>
        </p:spPr>
      </p:sp>
      <p:sp>
        <p:nvSpPr>
          <p:cNvPr id="15" name="Google Shape;15;g3e4bc65dc50_0_52"/>
          <p:cNvSpPr txBox="1"/>
          <p:nvPr>
            <p:ph type="title"/>
          </p:nvPr>
        </p:nvSpPr>
        <p:spPr>
          <a:xfrm>
            <a:off x="417625" y="88900"/>
            <a:ext cx="6028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6" name="Google Shape;16;g3e4bc65dc50_0_52"/>
          <p:cNvSpPr txBox="1"/>
          <p:nvPr>
            <p:ph idx="1" type="body"/>
          </p:nvPr>
        </p:nvSpPr>
        <p:spPr>
          <a:xfrm>
            <a:off x="42975" y="658076"/>
            <a:ext cx="4154400" cy="3863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pic>
        <p:nvPicPr>
          <p:cNvPr id="17" name="Google Shape;17;g3e4bc65dc50_0_52"/>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pic>
        <p:nvPicPr>
          <p:cNvPr id="18" name="Google Shape;18;g3e4bc65dc50_0_52"/>
          <p:cNvPicPr preferRelativeResize="0"/>
          <p:nvPr/>
        </p:nvPicPr>
        <p:blipFill rotWithShape="1">
          <a:blip r:embed="rId3">
            <a:alphaModFix/>
          </a:blip>
          <a:srcRect b="0" l="0" r="0" t="0"/>
          <a:stretch/>
        </p:blipFill>
        <p:spPr>
          <a:xfrm rot="-6060000">
            <a:off x="42975" y="-20245"/>
            <a:ext cx="498425" cy="498425"/>
          </a:xfrm>
          <a:prstGeom prst="rect">
            <a:avLst/>
          </a:prstGeom>
          <a:noFill/>
          <a:ln>
            <a:noFill/>
          </a:ln>
        </p:spPr>
      </p:pic>
      <p:sp>
        <p:nvSpPr>
          <p:cNvPr id="19" name="Google Shape;19;g3e4bc65dc50_0_52"/>
          <p:cNvSpPr txBox="1"/>
          <p:nvPr/>
        </p:nvSpPr>
        <p:spPr>
          <a:xfrm>
            <a:off x="8365149" y="-1524"/>
            <a:ext cx="780300" cy="374100"/>
          </a:xfrm>
          <a:prstGeom prst="rect">
            <a:avLst/>
          </a:prstGeom>
          <a:solidFill>
            <a:srgbClr val="00FF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400" u="none" cap="none" strike="noStrike">
                <a:solidFill>
                  <a:srgbClr val="292929"/>
                </a:solidFill>
                <a:latin typeface="DM Sans"/>
                <a:ea typeface="DM Sans"/>
                <a:cs typeface="DM Sans"/>
                <a:sym typeface="DM Sans"/>
              </a:rPr>
              <a:t>GA</a:t>
            </a:r>
            <a:endParaRPr b="0" i="0" sz="1400" u="none" cap="none" strike="noStrike">
              <a:solidFill>
                <a:srgbClr val="292929"/>
              </a:solidFill>
              <a:latin typeface="DM Sans"/>
              <a:ea typeface="DM Sans"/>
              <a:cs typeface="DM Sans"/>
              <a:sym typeface="DM Sans"/>
            </a:endParaRPr>
          </a:p>
        </p:txBody>
      </p:sp>
    </p:spTree>
  </p:cSld>
  <p:clrMapOvr>
    <a:masterClrMapping/>
  </p:clrMapOvr>
  <p:extLst>
    <p:ext uri="{DCECCB84-F9BA-43D5-87BE-67443E8EF086}">
      <p15:sldGuideLst>
        <p15:guide id="1" orient="horz" pos="2808">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ta">
  <p:cSld name="TITLE_AND_BODY_2">
    <p:spTree>
      <p:nvGrpSpPr>
        <p:cNvPr id="20" name="Shape 20"/>
        <p:cNvGrpSpPr/>
        <p:nvPr/>
      </p:nvGrpSpPr>
      <p:grpSpPr>
        <a:xfrm>
          <a:off x="0" y="0"/>
          <a:ext cx="0" cy="0"/>
          <a:chOff x="0" y="0"/>
          <a:chExt cx="0" cy="0"/>
        </a:xfrm>
      </p:grpSpPr>
      <p:sp>
        <p:nvSpPr>
          <p:cNvPr id="21" name="Google Shape;21;g3e4bc65dc50_0_59"/>
          <p:cNvSpPr/>
          <p:nvPr>
            <p:ph idx="2" type="pic"/>
          </p:nvPr>
        </p:nvSpPr>
        <p:spPr>
          <a:xfrm>
            <a:off x="4413400" y="610975"/>
            <a:ext cx="4602900" cy="4324500"/>
          </a:xfrm>
          <a:prstGeom prst="rect">
            <a:avLst/>
          </a:prstGeom>
          <a:solidFill>
            <a:srgbClr val="F8F8F8"/>
          </a:solidFill>
          <a:ln>
            <a:noFill/>
          </a:ln>
        </p:spPr>
      </p:sp>
      <p:sp>
        <p:nvSpPr>
          <p:cNvPr id="22" name="Google Shape;22;g3e4bc65dc50_0_59"/>
          <p:cNvSpPr txBox="1"/>
          <p:nvPr>
            <p:ph type="title"/>
          </p:nvPr>
        </p:nvSpPr>
        <p:spPr>
          <a:xfrm>
            <a:off x="417625" y="88900"/>
            <a:ext cx="6028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23" name="Google Shape;23;g3e4bc65dc50_0_59"/>
          <p:cNvSpPr txBox="1"/>
          <p:nvPr>
            <p:ph idx="1" type="body"/>
          </p:nvPr>
        </p:nvSpPr>
        <p:spPr>
          <a:xfrm>
            <a:off x="42975" y="658076"/>
            <a:ext cx="4154400" cy="3863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pic>
        <p:nvPicPr>
          <p:cNvPr id="24" name="Google Shape;24;g3e4bc65dc50_0_59"/>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pic>
        <p:nvPicPr>
          <p:cNvPr id="25" name="Google Shape;25;g3e4bc65dc50_0_59"/>
          <p:cNvPicPr preferRelativeResize="0"/>
          <p:nvPr/>
        </p:nvPicPr>
        <p:blipFill rotWithShape="1">
          <a:blip r:embed="rId3">
            <a:alphaModFix/>
          </a:blip>
          <a:srcRect b="0" l="0" r="0" t="0"/>
          <a:stretch/>
        </p:blipFill>
        <p:spPr>
          <a:xfrm rot="-6060000">
            <a:off x="42975" y="-20245"/>
            <a:ext cx="498425" cy="498425"/>
          </a:xfrm>
          <a:prstGeom prst="rect">
            <a:avLst/>
          </a:prstGeom>
          <a:noFill/>
          <a:ln>
            <a:noFill/>
          </a:ln>
        </p:spPr>
      </p:pic>
      <p:sp>
        <p:nvSpPr>
          <p:cNvPr id="26" name="Google Shape;26;g3e4bc65dc50_0_59"/>
          <p:cNvSpPr txBox="1"/>
          <p:nvPr/>
        </p:nvSpPr>
        <p:spPr>
          <a:xfrm>
            <a:off x="8365149" y="-1524"/>
            <a:ext cx="780300" cy="374100"/>
          </a:xfrm>
          <a:prstGeom prst="rect">
            <a:avLst/>
          </a:prstGeom>
          <a:solidFill>
            <a:srgbClr val="FFFF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400" u="none" cap="none" strike="noStrike">
                <a:solidFill>
                  <a:srgbClr val="292929"/>
                </a:solidFill>
                <a:latin typeface="DM Sans"/>
                <a:ea typeface="DM Sans"/>
                <a:cs typeface="DM Sans"/>
                <a:sym typeface="DM Sans"/>
              </a:rPr>
              <a:t>BETA</a:t>
            </a:r>
            <a:endParaRPr b="0" i="0" sz="1400" u="none" cap="none" strike="noStrike">
              <a:solidFill>
                <a:srgbClr val="292929"/>
              </a:solidFill>
              <a:latin typeface="DM Sans"/>
              <a:ea typeface="DM Sans"/>
              <a:cs typeface="DM Sans"/>
              <a:sym typeface="DM Sans"/>
            </a:endParaRPr>
          </a:p>
        </p:txBody>
      </p:sp>
    </p:spTree>
  </p:cSld>
  <p:clrMapOvr>
    <a:masterClrMapping/>
  </p:clrMapOvr>
  <p:extLst>
    <p:ext uri="{DCECCB84-F9BA-43D5-87BE-67443E8EF086}">
      <p15:sldGuideLst>
        <p15:guide id="1" orient="horz" pos="2808">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ick Hits">
  <p:cSld name="TITLE_AND_BODY_2_1">
    <p:spTree>
      <p:nvGrpSpPr>
        <p:cNvPr id="27" name="Shape 27"/>
        <p:cNvGrpSpPr/>
        <p:nvPr/>
      </p:nvGrpSpPr>
      <p:grpSpPr>
        <a:xfrm>
          <a:off x="0" y="0"/>
          <a:ext cx="0" cy="0"/>
          <a:chOff x="0" y="0"/>
          <a:chExt cx="0" cy="0"/>
        </a:xfrm>
      </p:grpSpPr>
      <p:sp>
        <p:nvSpPr>
          <p:cNvPr id="28" name="Google Shape;28;g3e4bc65dc50_0_66"/>
          <p:cNvSpPr txBox="1"/>
          <p:nvPr>
            <p:ph type="title"/>
          </p:nvPr>
        </p:nvSpPr>
        <p:spPr>
          <a:xfrm>
            <a:off x="116550" y="85375"/>
            <a:ext cx="6028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pic>
        <p:nvPicPr>
          <p:cNvPr id="29" name="Google Shape;29;g3e4bc65dc50_0_66"/>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
        <p:nvSpPr>
          <p:cNvPr id="30" name="Google Shape;30;g3e4bc65dc50_0_66"/>
          <p:cNvSpPr txBox="1"/>
          <p:nvPr/>
        </p:nvSpPr>
        <p:spPr>
          <a:xfrm>
            <a:off x="7716051" y="-1525"/>
            <a:ext cx="1429500" cy="374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400" u="none" cap="none" strike="noStrike">
                <a:solidFill>
                  <a:schemeClr val="lt1"/>
                </a:solidFill>
                <a:latin typeface="DM Sans"/>
                <a:ea typeface="DM Sans"/>
                <a:cs typeface="DM Sans"/>
                <a:sym typeface="DM Sans"/>
              </a:rPr>
              <a:t>QUICK HITS</a:t>
            </a:r>
            <a:endParaRPr b="1" i="0" sz="1400" u="none" cap="none" strike="noStrike">
              <a:solidFill>
                <a:schemeClr val="lt1"/>
              </a:solidFill>
              <a:latin typeface="DM Sans"/>
              <a:ea typeface="DM Sans"/>
              <a:cs typeface="DM Sans"/>
              <a:sym typeface="DM Sans"/>
            </a:endParaRPr>
          </a:p>
        </p:txBody>
      </p:sp>
      <p:sp>
        <p:nvSpPr>
          <p:cNvPr id="31" name="Google Shape;31;g3e4bc65dc50_0_66"/>
          <p:cNvSpPr txBox="1"/>
          <p:nvPr/>
        </p:nvSpPr>
        <p:spPr>
          <a:xfrm>
            <a:off x="154825" y="627950"/>
            <a:ext cx="8911800" cy="401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92929"/>
              </a:solidFill>
              <a:latin typeface="DM Sans"/>
              <a:ea typeface="DM Sans"/>
              <a:cs typeface="DM Sans"/>
              <a:sym typeface="DM Sans"/>
            </a:endParaRPr>
          </a:p>
        </p:txBody>
      </p:sp>
    </p:spTree>
  </p:cSld>
  <p:clrMapOvr>
    <a:masterClrMapping/>
  </p:clrMapOvr>
  <p:extLst>
    <p:ext uri="{DCECCB84-F9BA-43D5-87BE-67443E8EF086}">
      <p15:sldGuideLst>
        <p15:guide id="1" orient="horz" pos="2808">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g Fixes">
  <p:cSld name="TITLE_AND_BODY_3">
    <p:spTree>
      <p:nvGrpSpPr>
        <p:cNvPr id="32" name="Shape 32"/>
        <p:cNvGrpSpPr/>
        <p:nvPr/>
      </p:nvGrpSpPr>
      <p:grpSpPr>
        <a:xfrm>
          <a:off x="0" y="0"/>
          <a:ext cx="0" cy="0"/>
          <a:chOff x="0" y="0"/>
          <a:chExt cx="0" cy="0"/>
        </a:xfrm>
      </p:grpSpPr>
      <p:sp>
        <p:nvSpPr>
          <p:cNvPr id="33" name="Google Shape;33;g3e4bc65dc50_0_71"/>
          <p:cNvSpPr/>
          <p:nvPr>
            <p:ph idx="2" type="pic"/>
          </p:nvPr>
        </p:nvSpPr>
        <p:spPr>
          <a:xfrm>
            <a:off x="4413400" y="610975"/>
            <a:ext cx="4602900" cy="4324500"/>
          </a:xfrm>
          <a:prstGeom prst="rect">
            <a:avLst/>
          </a:prstGeom>
          <a:solidFill>
            <a:srgbClr val="F8F8F8"/>
          </a:solidFill>
          <a:ln>
            <a:noFill/>
          </a:ln>
        </p:spPr>
      </p:sp>
      <p:sp>
        <p:nvSpPr>
          <p:cNvPr id="34" name="Google Shape;34;g3e4bc65dc50_0_71"/>
          <p:cNvSpPr txBox="1"/>
          <p:nvPr>
            <p:ph type="title"/>
          </p:nvPr>
        </p:nvSpPr>
        <p:spPr>
          <a:xfrm>
            <a:off x="150975" y="85375"/>
            <a:ext cx="6028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5" name="Google Shape;35;g3e4bc65dc50_0_71"/>
          <p:cNvSpPr txBox="1"/>
          <p:nvPr>
            <p:ph idx="1" type="body"/>
          </p:nvPr>
        </p:nvSpPr>
        <p:spPr>
          <a:xfrm>
            <a:off x="42975" y="658076"/>
            <a:ext cx="4154400" cy="3863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pic>
        <p:nvPicPr>
          <p:cNvPr id="36" name="Google Shape;36;g3e4bc65dc50_0_71"/>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extLst>
    <p:ext uri="{DCECCB84-F9BA-43D5-87BE-67443E8EF086}">
      <p15:sldGuideLst>
        <p15:guide id="1" orient="horz" pos="2808">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ources">
  <p:cSld name="BLANK_1_1">
    <p:bg>
      <p:bgPr>
        <a:solidFill>
          <a:srgbClr val="292929"/>
        </a:solidFill>
      </p:bgPr>
    </p:bg>
    <p:spTree>
      <p:nvGrpSpPr>
        <p:cNvPr id="37" name="Shape 37"/>
        <p:cNvGrpSpPr/>
        <p:nvPr/>
      </p:nvGrpSpPr>
      <p:grpSpPr>
        <a:xfrm>
          <a:off x="0" y="0"/>
          <a:ext cx="0" cy="0"/>
          <a:chOff x="0" y="0"/>
          <a:chExt cx="0" cy="0"/>
        </a:xfrm>
      </p:grpSpPr>
      <p:sp>
        <p:nvSpPr>
          <p:cNvPr id="38" name="Google Shape;38;g3e4bc65dc50_0_7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pic>
        <p:nvPicPr>
          <p:cNvPr id="39" name="Google Shape;39;g3e4bc65dc50_0_76"/>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pic>
        <p:nvPicPr>
          <p:cNvPr id="40" name="Google Shape;40;g3e4bc65dc50_0_76"/>
          <p:cNvPicPr preferRelativeResize="0"/>
          <p:nvPr/>
        </p:nvPicPr>
        <p:blipFill rotWithShape="1">
          <a:blip r:embed="rId3">
            <a:alphaModFix/>
          </a:blip>
          <a:srcRect b="0" l="0" r="0" t="0"/>
          <a:stretch/>
        </p:blipFill>
        <p:spPr>
          <a:xfrm>
            <a:off x="5546100" y="8"/>
            <a:ext cx="3597900" cy="35979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e4bc65dc50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g3e4bc65dc50_0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g3e4bc65dc50_0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elp.sigmacomputing.com/docs/sigma-public"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elp.sigmacomputing.com/docs/create-actions-that-call-api-endpoints" TargetMode="External"/><Relationship Id="rId3" Type="http://schemas.openxmlformats.org/officeDocument/2006/relationships/hyperlink" Target="https://quickstarts.sigmacomputing.com/guide/developers_api_actions_getting_started/index.html?index=..%2F..index#0"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elp.sigmacomputing.com/docs/create-actions-that-send-notifications-and-export-data#download-a-repor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elp.sigmacomputing.com/docs/format-and-customize-a-table#format-action-button-column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elp.sigmacomputing.com/docs/create-and-manage-tenant-organizations#review-audit-logs-from-tenant-organization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elp.sigmacomputing.com/docs/using-multiple-identity-providers-for-your-sigma-organization"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elp.sigmacomputing.com/docs/sigmas-sample-connection"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elp.sigmacomputing.com/docs/install-skills-for-ai-assistant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elp.sigmacomputing.com/reference/listdatamodelsources" TargetMode="External"/><Relationship Id="rId3" Type="http://schemas.openxmlformats.org/officeDocument/2006/relationships/hyperlink" Target="https://help.sigmacomputing.com/reference-link/updateorganizationsetting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elp.sigmacomputing.com/docs/manage-dbt-integration#configure-dbt-core-integration-beta"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elp.sigmacomputing.com/docs/hierarchies" TargetMode="External"/><Relationship Id="rId3" Type="http://schemas.openxmlformats.org/officeDocument/2006/relationships/hyperlink" Target="https://help.sigmacomputing.com/docs/manage-workbook-localization"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quickstarts.sigmacomputing.com/guide/developers_sigma_skill/index.html?index=..%2F..index#0"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 name="Google Shape;45;p3"/>
          <p:cNvSpPr txBox="1"/>
          <p:nvPr>
            <p:ph type="ctrTitle"/>
          </p:nvPr>
        </p:nvSpPr>
        <p:spPr>
          <a:xfrm>
            <a:off x="198575" y="168625"/>
            <a:ext cx="6659400" cy="25815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100"/>
              <a:buFont typeface="Arial"/>
              <a:buNone/>
            </a:pPr>
            <a:r>
              <a:rPr lang="en"/>
              <a:t>Sigma</a:t>
            </a:r>
            <a:br>
              <a:rPr lang="en"/>
            </a:br>
            <a:r>
              <a:rPr lang="en"/>
              <a:t>First Friday Features</a:t>
            </a:r>
            <a:endParaRPr/>
          </a:p>
          <a:p>
            <a:pPr indent="0" lvl="0" marL="0" rtl="0" algn="l">
              <a:lnSpc>
                <a:spcPct val="95000"/>
              </a:lnSpc>
              <a:spcBef>
                <a:spcPts val="0"/>
              </a:spcBef>
              <a:spcAft>
                <a:spcPts val="0"/>
              </a:spcAft>
              <a:buSzPts val="5500"/>
              <a:buNone/>
            </a:pPr>
            <a:r>
              <a:t/>
            </a:r>
            <a:endParaRPr/>
          </a:p>
        </p:txBody>
      </p:sp>
      <p:sp>
        <p:nvSpPr>
          <p:cNvPr id="46" name="Google Shape;46;p3"/>
          <p:cNvSpPr txBox="1"/>
          <p:nvPr>
            <p:ph idx="1" type="subTitle"/>
          </p:nvPr>
        </p:nvSpPr>
        <p:spPr>
          <a:xfrm>
            <a:off x="198575" y="1957535"/>
            <a:ext cx="8520600" cy="792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May 2026</a:t>
            </a:r>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51" name="Google Shape;51;p4"/>
          <p:cNvGraphicFramePr/>
          <p:nvPr/>
        </p:nvGraphicFramePr>
        <p:xfrm>
          <a:off x="436558" y="1147350"/>
          <a:ext cx="3000000" cy="3000000"/>
        </p:xfrm>
        <a:graphic>
          <a:graphicData uri="http://schemas.openxmlformats.org/drawingml/2006/table">
            <a:tbl>
              <a:tblPr>
                <a:noFill/>
                <a:tableStyleId>{9270D2BA-9617-4BF3-B3EC-A2AA27411165}</a:tableStyleId>
              </a:tblPr>
              <a:tblGrid>
                <a:gridCol w="3791725"/>
              </a:tblGrid>
              <a:tr h="5508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1"/>
                          </a:solidFill>
                          <a:latin typeface="DM Sans Light"/>
                          <a:ea typeface="DM Sans Light"/>
                          <a:cs typeface="DM Sans Light"/>
                          <a:sym typeface="DM Sans Light"/>
                        </a:rPr>
                        <a:t>Spotlight Features</a:t>
                      </a:r>
                      <a:endParaRPr sz="1400" u="none" cap="none" strike="noStrike">
                        <a:solidFill>
                          <a:schemeClr val="lt1"/>
                        </a:solidFill>
                        <a:latin typeface="DM Sans Light"/>
                        <a:ea typeface="DM Sans Light"/>
                        <a:cs typeface="DM Sans Light"/>
                        <a:sym typeface="DM Sans Light"/>
                      </a:endParaRPr>
                    </a:p>
                  </a:txBody>
                  <a:tcPr marT="91425" marB="91425" marR="91425"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FA8A7"/>
                      </a:solidFill>
                      <a:prstDash val="solid"/>
                      <a:round/>
                      <a:headEnd len="sm" w="sm" type="none"/>
                      <a:tailEnd len="sm" w="sm" type="none"/>
                    </a:lnB>
                    <a:solidFill>
                      <a:srgbClr val="292929"/>
                    </a:solidFill>
                  </a:tcPr>
                </a:tc>
              </a:tr>
              <a:tr h="5508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1"/>
                          </a:solidFill>
                          <a:latin typeface="DM Sans Light"/>
                          <a:ea typeface="DM Sans Light"/>
                          <a:cs typeface="DM Sans Light"/>
                          <a:sym typeface="DM Sans Light"/>
                        </a:rPr>
                        <a:t>Quick-Hits by Feature Category</a:t>
                      </a:r>
                      <a:endParaRPr sz="1400" u="none" cap="none" strike="noStrike">
                        <a:solidFill>
                          <a:srgbClr val="F0FF45"/>
                        </a:solidFill>
                      </a:endParaRPr>
                    </a:p>
                  </a:txBody>
                  <a:tcPr marT="91425" marB="91425" marR="91425"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FA8A7"/>
                      </a:solidFill>
                      <a:prstDash val="solid"/>
                      <a:round/>
                      <a:headEnd len="sm" w="sm" type="none"/>
                      <a:tailEnd len="sm" w="sm" type="none"/>
                    </a:lnT>
                    <a:lnB cap="flat" cmpd="sng" w="9525">
                      <a:solidFill>
                        <a:srgbClr val="9FA8A7"/>
                      </a:solidFill>
                      <a:prstDash val="solid"/>
                      <a:round/>
                      <a:headEnd len="sm" w="sm" type="none"/>
                      <a:tailEnd len="sm" w="sm" type="none"/>
                    </a:lnB>
                    <a:solidFill>
                      <a:srgbClr val="292929"/>
                    </a:solidFill>
                  </a:tcPr>
                </a:tc>
              </a:tr>
              <a:tr h="5508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1"/>
                          </a:solidFill>
                          <a:latin typeface="DM Sans Light"/>
                          <a:ea typeface="DM Sans Light"/>
                          <a:cs typeface="DM Sans Light"/>
                          <a:sym typeface="DM Sans Light"/>
                        </a:rPr>
                        <a:t>New QuickStarts</a:t>
                      </a:r>
                      <a:endParaRPr sz="1400" u="none" cap="none" strike="noStrike">
                        <a:solidFill>
                          <a:schemeClr val="lt1"/>
                        </a:solidFill>
                      </a:endParaRPr>
                    </a:p>
                  </a:txBody>
                  <a:tcPr marT="91425" marB="91425" marR="91425"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FA8A7"/>
                      </a:solidFill>
                      <a:prstDash val="solid"/>
                      <a:round/>
                      <a:headEnd len="sm" w="sm" type="none"/>
                      <a:tailEnd len="sm" w="sm" type="none"/>
                    </a:lnT>
                    <a:lnB cap="flat" cmpd="sng" w="9525">
                      <a:solidFill>
                        <a:srgbClr val="9FA8A7"/>
                      </a:solidFill>
                      <a:prstDash val="solid"/>
                      <a:round/>
                      <a:headEnd len="sm" w="sm" type="none"/>
                      <a:tailEnd len="sm" w="sm" type="none"/>
                    </a:lnB>
                    <a:solidFill>
                      <a:srgbClr val="292929"/>
                    </a:solidFill>
                  </a:tcPr>
                </a:tc>
              </a:tr>
              <a:tr h="5508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1"/>
                          </a:solidFill>
                          <a:latin typeface="DM Sans Light"/>
                          <a:ea typeface="DM Sans Light"/>
                          <a:cs typeface="DM Sans Light"/>
                          <a:sym typeface="DM Sans Light"/>
                        </a:rPr>
                        <a:t>Additional Resources</a:t>
                      </a:r>
                      <a:endParaRPr sz="1400" u="none" cap="none" strike="noStrike">
                        <a:solidFill>
                          <a:schemeClr val="lt1"/>
                        </a:solidFill>
                      </a:endParaRPr>
                    </a:p>
                  </a:txBody>
                  <a:tcPr marT="91425" marB="91425" marR="91425"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FA8A7"/>
                      </a:solidFill>
                      <a:prstDash val="solid"/>
                      <a:round/>
                      <a:headEnd len="sm" w="sm" type="none"/>
                      <a:tailEnd len="sm" w="sm" type="none"/>
                    </a:lnT>
                    <a:lnB cap="flat" cmpd="sng" w="9525">
                      <a:solidFill>
                        <a:srgbClr val="9FA8A7"/>
                      </a:solidFill>
                      <a:prstDash val="solid"/>
                      <a:round/>
                      <a:headEnd len="sm" w="sm" type="none"/>
                      <a:tailEnd len="sm" w="sm" type="none"/>
                    </a:lnB>
                    <a:solidFill>
                      <a:srgbClr val="292929"/>
                    </a:solidFill>
                  </a:tcPr>
                </a:tc>
              </a:tr>
            </a:tbl>
          </a:graphicData>
        </a:graphic>
      </p:graphicFrame>
      <p:pic>
        <p:nvPicPr>
          <p:cNvPr id="52" name="Google Shape;52;p4"/>
          <p:cNvPicPr preferRelativeResize="0"/>
          <p:nvPr/>
        </p:nvPicPr>
        <p:blipFill rotWithShape="1">
          <a:blip r:embed="rId3">
            <a:alphaModFix/>
          </a:blip>
          <a:srcRect b="0" l="0" r="0" t="0"/>
          <a:stretch/>
        </p:blipFill>
        <p:spPr>
          <a:xfrm>
            <a:off x="5546100" y="8"/>
            <a:ext cx="3597900" cy="3597900"/>
          </a:xfrm>
          <a:prstGeom prst="rect">
            <a:avLst/>
          </a:prstGeom>
          <a:noFill/>
          <a:ln>
            <a:noFill/>
          </a:ln>
        </p:spPr>
      </p:pic>
      <p:pic>
        <p:nvPicPr>
          <p:cNvPr id="53" name="Google Shape;53;p4"/>
          <p:cNvPicPr preferRelativeResize="0"/>
          <p:nvPr/>
        </p:nvPicPr>
        <p:blipFill rotWithShape="1">
          <a:blip r:embed="rId4">
            <a:alphaModFix/>
          </a:blip>
          <a:srcRect b="0" l="0" r="0" t="0"/>
          <a:stretch/>
        </p:blipFill>
        <p:spPr>
          <a:xfrm>
            <a:off x="1805050" y="994825"/>
            <a:ext cx="498425" cy="498425"/>
          </a:xfrm>
          <a:prstGeom prst="rect">
            <a:avLst/>
          </a:prstGeom>
          <a:noFill/>
          <a:ln>
            <a:noFill/>
          </a:ln>
        </p:spPr>
      </p:pic>
      <p:sp>
        <p:nvSpPr>
          <p:cNvPr id="54" name="Google Shape;54;p4"/>
          <p:cNvSpPr txBox="1"/>
          <p:nvPr>
            <p:ph idx="4294967295" type="title"/>
          </p:nvPr>
        </p:nvSpPr>
        <p:spPr>
          <a:xfrm>
            <a:off x="276025" y="2988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solidFill>
                  <a:schemeClr val="lt1"/>
                </a:solidFill>
              </a:rPr>
              <a:t>Contents</a:t>
            </a:r>
            <a:endParaRPr>
              <a:solidFill>
                <a:schemeClr val="lt1"/>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9" name="Google Shape;59;p13"/>
          <p:cNvSpPr txBox="1"/>
          <p:nvPr>
            <p:ph type="title"/>
          </p:nvPr>
        </p:nvSpPr>
        <p:spPr>
          <a:xfrm>
            <a:off x="417625" y="88900"/>
            <a:ext cx="6028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u="sng">
                <a:solidFill>
                  <a:schemeClr val="hlink"/>
                </a:solidFill>
                <a:hlinkClick r:id="rId2"/>
              </a:rPr>
              <a:t>Sigma Public</a:t>
            </a:r>
            <a:endParaRPr>
              <a:highlight>
                <a:srgbClr val="4CEC8C"/>
              </a:highlight>
            </a:endParaRPr>
          </a:p>
        </p:txBody>
      </p:sp>
      <p:sp>
        <p:nvSpPr>
          <p:cNvPr id="60" name="Google Shape;60;p13"/>
          <p:cNvSpPr txBox="1"/>
          <p:nvPr>
            <p:ph idx="1" type="body"/>
          </p:nvPr>
        </p:nvSpPr>
        <p:spPr>
          <a:xfrm>
            <a:off x="42975" y="658076"/>
            <a:ext cx="4154400" cy="3863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200"/>
              <a:buNone/>
            </a:pPr>
            <a:endParaRPr/>
            <a:r>
              <a:rPr lang="en"/>
              <a:t>Free-to-use platform for creating, sharing, and exploring apps. Users can leverage sample data or upload datasets to build workflows in an embedded Sigma experience, plus search community-created apps for inspiration.</a:t>
            </a:r>
          </a:p>
          <a:p>
            <a:pPr indent="0" lvl="0" marL="0" rtl="0" algn="l">
              <a:lnSpc>
                <a:spcPct val="100000"/>
              </a:lnSpc>
              <a:spcBef>
                <a:spcPts val="0"/>
              </a:spcBef>
              <a:spcAft>
                <a:spcPts val="0"/>
              </a:spcAft>
              <a:buSzPts val="1200"/>
              <a:buNone/>
            </a:pPr>
            <a:r>
              <a:rPr lang="en"/>
              <a:t>Why it matters: A free, hosted Sigma experience lowers the barrier for anyone exploring app development with Sigma, and creates a community surface where teams can discover and share working app patterns. It serves as both a discovery channel for new users and a showcase for what experienced builders are creating.</a:t>
            </a:r>
          </a:p>
        </p:txBody>
      </p:sp>
      <p:sp>
        <p:nvSpPr>
          <p:cNvPr id="61" name="Google Shape;61;p13"/>
          <p:cNvSpPr txBox="1"/>
          <p:nvPr/>
        </p:nvSpPr>
        <p:spPr>
          <a:xfrm>
            <a:off x="7632575" y="0"/>
            <a:ext cx="1511400" cy="374100"/>
          </a:xfrm>
          <a:prstGeom prst="rect">
            <a:avLst/>
          </a:prstGeom>
          <a:solidFill>
            <a:srgbClr val="4CEC8C"/>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292929"/>
                </a:solidFill>
                <a:latin typeface="DM Sans"/>
                <a:ea typeface="DM Sans"/>
                <a:cs typeface="DM Sans"/>
                <a:sym typeface="DM Sans"/>
              </a:rPr>
              <a:t>GA</a:t>
            </a:r>
            <a:endParaRPr b="0" i="0" sz="1200" u="none" cap="none" strike="noStrike">
              <a:solidFill>
                <a:srgbClr val="292929"/>
              </a:solidFill>
              <a:latin typeface="DM Sans"/>
              <a:ea typeface="DM Sans"/>
              <a:cs typeface="DM Sans"/>
              <a:sym typeface="DM Sans"/>
            </a:endParaRPr>
          </a:p>
        </p:txBody>
      </p:sp>
      <p:pic>
        <p:nvPicPr>
          <p:cNvPr id="63" name="Google Shape;63;p13"/>
          <p:cNvPicPr preferRelativeResize="0"/>
          <p:nvPr/>
        </p:nvPicPr>
        <p:blipFill rotWithShape="1">
          <a:blip r:embed="rId5">
            <a:alphaModFix/>
          </a:blip>
          <a:srcRect b="0" l="0" r="0" t="0"/>
          <a:stretch/>
        </p:blipFill>
        <p:spPr>
          <a:xfrm>
            <a:off x="4179075" y="714500"/>
            <a:ext cx="4866099" cy="2128921"/>
          </a:xfrm>
          <a:prstGeom prst="rect">
            <a:avLst/>
          </a:prstGeom>
          <a:noFill/>
          <a:ln>
            <a:no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9" name="Google Shape;59;p13"/>
          <p:cNvSpPr txBox="1"/>
          <p:nvPr>
            <p:ph type="title"/>
          </p:nvPr>
        </p:nvSpPr>
        <p:spPr>
          <a:xfrm>
            <a:off x="417625" y="88900"/>
            <a:ext cx="6028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u="sng">
                <a:solidFill>
                  <a:schemeClr val="hlink"/>
                </a:solidFill>
                <a:hlinkClick r:id="rId2"/>
              </a:rPr>
              <a:t>Call API Action</a:t>
            </a:r>
            <a:endParaRPr>
              <a:highlight>
                <a:srgbClr val="4CEC8C"/>
              </a:highlight>
            </a:endParaRPr>
          </a:p>
        </p:txBody>
      </p:sp>
      <p:sp>
        <p:nvSpPr>
          <p:cNvPr id="60" name="Google Shape;60;p13"/>
          <p:cNvSpPr txBox="1"/>
          <p:nvPr>
            <p:ph idx="1" type="body"/>
          </p:nvPr>
        </p:nvSpPr>
        <p:spPr>
          <a:xfrm>
            <a:off x="42975" y="658076"/>
            <a:ext cx="4154400" cy="3863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200"/>
              <a:buNone/>
            </a:pPr>
            <a:endParaRPr/>
            <a:r>
              <a:rPr lang="en"/>
              <a:t>Call API Action is now generally available. Create actions that call API endpoints directly within Sigma workbooks to trigger workflows, enrich data, and integrate external systems. Supports diverse authentication methods, dynamic parameters, and typed request bodies.</a:t>
            </a:r>
          </a:p>
          <a:p>
            <a:pPr indent="0" lvl="0" marL="0" rtl="0" algn="l">
              <a:lnSpc>
                <a:spcPct val="100000"/>
              </a:lnSpc>
              <a:spcBef>
                <a:spcPts val="0"/>
              </a:spcBef>
              <a:spcAft>
                <a:spcPts val="0"/>
              </a:spcAft>
              <a:buSzPts val="1200"/>
              <a:buNone/>
            </a:pPr>
            <a:r>
              <a:rPr lang="en"/>
              <a:t>Why it matters: GA status means this is production-ready for enterprise use. Teams can reliably trigger external workflows, push data to downstream systems, and orchestrate multi-step processes without leaving Sigma — a meaningful capability for operational analytics at scale.</a:t>
            </a:r>
          </a:p>
        </p:txBody>
      </p:sp>
      <p:sp>
        <p:nvSpPr>
          <p:cNvPr id="61" name="Google Shape;61;p13"/>
          <p:cNvSpPr txBox="1"/>
          <p:nvPr/>
        </p:nvSpPr>
        <p:spPr>
          <a:xfrm>
            <a:off x="7632575" y="0"/>
            <a:ext cx="1511400" cy="374100"/>
          </a:xfrm>
          <a:prstGeom prst="rect">
            <a:avLst/>
          </a:prstGeom>
          <a:solidFill>
            <a:srgbClr val="4CEC8C"/>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292929"/>
                </a:solidFill>
                <a:latin typeface="DM Sans"/>
                <a:ea typeface="DM Sans"/>
                <a:cs typeface="DM Sans"/>
                <a:sym typeface="DM Sans"/>
              </a:rPr>
              <a:t>GA</a:t>
            </a:r>
            <a:endParaRPr b="0" i="0" sz="1200" u="none" cap="none" strike="noStrike">
              <a:solidFill>
                <a:srgbClr val="292929"/>
              </a:solidFill>
              <a:latin typeface="DM Sans"/>
              <a:ea typeface="DM Sans"/>
              <a:cs typeface="DM Sans"/>
              <a:sym typeface="DM Sans"/>
            </a:endParaRPr>
          </a:p>
        </p:txBody>
      </p:sp>
      <p:sp>
        <p:nvSpPr>
          <p:cNvPr id="62" name="Google Shape;62;p13"/>
          <p:cNvSpPr txBox="1"/>
          <p:nvPr/>
        </p:nvSpPr>
        <p:spPr>
          <a:xfrm>
            <a:off x="61275" y="3995375"/>
            <a:ext cx="4117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hlinkClick r:id="rId3"/>
              </a:rPr>
              <a:t>QuickStart: API Actions - Getting Started</a:t>
            </a:r>
            <a:endParaRPr b="0" i="0" sz="1400" u="none" cap="none" strike="noStrike">
              <a:solidFill>
                <a:srgbClr val="000000"/>
              </a:solidFill>
              <a:latin typeface="Arial"/>
              <a:ea typeface="Arial"/>
              <a:cs typeface="Arial"/>
              <a:sym typeface="Arial"/>
            </a:endParaRPr>
          </a:p>
        </p:txBody>
      </p:sp>
      <p:pic>
        <p:nvPicPr>
          <p:cNvPr id="63" name="Google Shape;63;p13"/>
          <p:cNvPicPr preferRelativeResize="0"/>
          <p:nvPr/>
        </p:nvPicPr>
        <p:blipFill rotWithShape="1">
          <a:blip r:embed="rId5">
            <a:alphaModFix/>
          </a:blip>
          <a:srcRect b="0" l="0" r="0" t="0"/>
          <a:stretch/>
        </p:blipFill>
        <p:spPr>
          <a:xfrm>
            <a:off x="4179075" y="714500"/>
            <a:ext cx="4866099" cy="2128921"/>
          </a:xfrm>
          <a:prstGeom prst="rect">
            <a:avLst/>
          </a:prstGeom>
          <a:noFill/>
          <a:ln>
            <a:no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9" name="Google Shape;59;p13"/>
          <p:cNvSpPr txBox="1"/>
          <p:nvPr>
            <p:ph type="title"/>
          </p:nvPr>
        </p:nvSpPr>
        <p:spPr>
          <a:xfrm>
            <a:off x="417625" y="88900"/>
            <a:ext cx="6028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u="sng">
                <a:solidFill>
                  <a:schemeClr val="hlink"/>
                </a:solidFill>
                <a:hlinkClick r:id="rId2"/>
              </a:rPr>
              <a:t>Download Reports as PDF</a:t>
            </a:r>
            <a:endParaRPr>
              <a:highlight>
                <a:srgbClr val="4CEC8C"/>
              </a:highlight>
            </a:endParaRPr>
          </a:p>
        </p:txBody>
      </p:sp>
      <p:sp>
        <p:nvSpPr>
          <p:cNvPr id="60" name="Google Shape;60;p13"/>
          <p:cNvSpPr txBox="1"/>
          <p:nvPr>
            <p:ph idx="1" type="body"/>
          </p:nvPr>
        </p:nvSpPr>
        <p:spPr>
          <a:xfrm>
            <a:off x="42975" y="658076"/>
            <a:ext cx="4154400" cy="3863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200"/>
              <a:buNone/>
            </a:pPr>
            <a:endParaRPr/>
            <a:r>
              <a:rPr lang="en"/>
              <a:t>Create workbook actions that download entire reports in PDF format for distribution and offline access.</a:t>
            </a:r>
          </a:p>
          <a:p>
            <a:pPr indent="0" lvl="0" marL="0" rtl="0" algn="l">
              <a:lnSpc>
                <a:spcPct val="100000"/>
              </a:lnSpc>
              <a:spcBef>
                <a:spcPts val="0"/>
              </a:spcBef>
              <a:spcAft>
                <a:spcPts val="0"/>
              </a:spcAft>
              <a:buSzPts val="1200"/>
              <a:buNone/>
            </a:pPr>
            <a:r>
              <a:rPr lang="en"/>
              <a:t>Why it matters: PDF export via workbook actions closes a common gap for stakeholders who need polished, shareable reports outside the browser — useful for scheduled distributions, executive reviews, and compliance documentation.</a:t>
            </a:r>
          </a:p>
        </p:txBody>
      </p:sp>
      <p:sp>
        <p:nvSpPr>
          <p:cNvPr id="61" name="Google Shape;61;p13"/>
          <p:cNvSpPr txBox="1"/>
          <p:nvPr/>
        </p:nvSpPr>
        <p:spPr>
          <a:xfrm>
            <a:off x="7632575" y="0"/>
            <a:ext cx="1511400" cy="374100"/>
          </a:xfrm>
          <a:prstGeom prst="rect">
            <a:avLst/>
          </a:prstGeom>
          <a:solidFill>
            <a:srgbClr val="4CEC8C"/>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292929"/>
                </a:solidFill>
                <a:latin typeface="DM Sans"/>
                <a:ea typeface="DM Sans"/>
                <a:cs typeface="DM Sans"/>
                <a:sym typeface="DM Sans"/>
              </a:rPr>
              <a:t>GA</a:t>
            </a:r>
            <a:endParaRPr b="0" i="0" sz="1200" u="none" cap="none" strike="noStrike">
              <a:solidFill>
                <a:srgbClr val="292929"/>
              </a:solidFill>
              <a:latin typeface="DM Sans"/>
              <a:ea typeface="DM Sans"/>
              <a:cs typeface="DM Sans"/>
              <a:sym typeface="DM Sans"/>
            </a:endParaRPr>
          </a:p>
        </p:txBody>
      </p:sp>
      <p:pic>
        <p:nvPicPr>
          <p:cNvPr id="63" name="Google Shape;63;p13"/>
          <p:cNvPicPr preferRelativeResize="0"/>
          <p:nvPr/>
        </p:nvPicPr>
        <p:blipFill rotWithShape="1">
          <a:blip r:embed="rId5">
            <a:alphaModFix/>
          </a:blip>
          <a:srcRect b="0" l="0" r="0" t="0"/>
          <a:stretch/>
        </p:blipFill>
        <p:spPr>
          <a:xfrm>
            <a:off x="4179075" y="714500"/>
            <a:ext cx="4866099" cy="2128921"/>
          </a:xfrm>
          <a:prstGeom prst="rect">
            <a:avLst/>
          </a:prstGeom>
          <a:noFill/>
          <a:ln>
            <a:no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8" name="Google Shape;68;p12"/>
          <p:cNvSpPr txBox="1"/>
          <p:nvPr>
            <p:ph type="title"/>
          </p:nvPr>
        </p:nvSpPr>
        <p:spPr>
          <a:xfrm>
            <a:off x="116550" y="85375"/>
            <a:ext cx="6028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Actions - Quick Hits</a:t>
            </a:r>
            <a:endParaRPr/>
          </a:p>
        </p:txBody>
      </p:sp>
      <p:sp xmlns:ahyp="http://schemas.microsoft.com/office/drawing/2018/hyperlinkcolor">
        <p:nvSpPr>
          <p:cNvPr id="69" name="Google Shape;69;p12"/>
          <p:cNvSpPr txBox="1"/>
          <p:nvPr>
            <p:ph idx="4294967295" type="body"/>
          </p:nvPr>
        </p:nvSpPr>
        <p:spPr>
          <a:xfrm>
            <a:off x="116550" y="658075"/>
            <a:ext cx="8864100" cy="3987000"/>
          </a:xfrm>
          <a:prstGeom prst="rect">
            <a:avLst/>
          </a:prstGeom>
          <a:noFill/>
          <a:ln>
            <a:noFill/>
          </a:ln>
        </p:spPr>
        <p:txBody>
          <a:bodyPr anchorCtr="0" anchor="t" bIns="91425" lIns="91425" spcFirstLastPara="1" rIns="91425" wrap="square" tIns="91425">
            <a:noAutofit/>
          </a:bodyPr>
          <a:lstStyle/>
          <a:p>
            <a:pPr indent="0" lvl="0" marL="0" marR="419100" rtl="0" algn="l">
              <a:lnSpc>
                <a:spcPct val="115000"/>
              </a:lnSpc>
              <a:spcBef>
                <a:spcPts val="0"/>
              </a:spcBef>
              <a:spcAft>
                <a:spcPts val="0"/>
              </a:spcAft>
              <a:buSzPts val="1200"/>
              <a:buNone/>
            </a:pPr>
            <a:endParaRPr>
              <a:solidFill>
                <a:schemeClr val="accent5"/>
              </a:solidFill>
            </a:endParaRPr>
            <a:r>
              <a:rPr lang="en" u="sng">
                <a:solidFill>
                  <a:schemeClr val="accent5"/>
                </a:solidFill>
                <a:hlinkClick r:id="rId3">
                  <a:extLst>
                    <a:ext uri="{A12FA001-AC4F-418D-AE19-62706E023703}">
                      <ahyp:hlinkClr val="tx"/>
                    </a:ext>
                  </a:extLst>
                </a:hlinkClick>
                <a:hlinkClick r:id="rId2"/>
              </a:rPr>
              <a:t>Action Button Column Formatting</a:t>
            </a:r>
          </a:p>
          <a:p>
            <a:pPr indent="0" lvl="1" marL="0" marR="419100" rtl="0" algn="l">
              <a:lnSpc>
                <a:spcPct val="115000"/>
              </a:lnSpc>
              <a:spcBef>
                <a:spcPts val="0"/>
              </a:spcBef>
              <a:spcAft>
                <a:spcPts val="0"/>
              </a:spcAft>
              <a:buSzPts val="1200"/>
              <a:buNone/>
            </a:pPr>
            <a:r>
              <a:rPr lang="en" u="sng">
                <a:solidFill>
                  <a:schemeClr val="accent5"/>
                </a:solidFill>
                <a:hlinkClick r:id="rId3">
                  <a:extLst>
                    <a:ext uri="{A12FA001-AC4F-418D-AE19-62706E023703}">
                      <ahyp:hlinkClr val="tx"/>
                    </a:ext>
                  </a:extLst>
                </a:hlinkClick>
              </a:rPr>
              <a:t>Format table columns that trigger action sequences to display as buttons, making interactivity visually explicit for end users.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9" name="Google Shape;59;p13"/>
          <p:cNvSpPr txBox="1"/>
          <p:nvPr>
            <p:ph type="title"/>
          </p:nvPr>
        </p:nvSpPr>
        <p:spPr>
          <a:xfrm>
            <a:off x="417625" y="88900"/>
            <a:ext cx="6028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u="sng">
                <a:solidFill>
                  <a:schemeClr val="hlink"/>
                </a:solidFill>
                <a:hlinkClick r:id="rId2"/>
              </a:rPr>
              <a:t>Audit Logs for Tenant Organizations in Other Regions</a:t>
            </a:r>
            <a:endParaRPr>
              <a:highlight>
                <a:srgbClr val="4CEC8C"/>
              </a:highlight>
            </a:endParaRPr>
          </a:p>
        </p:txBody>
      </p:sp>
      <p:sp>
        <p:nvSpPr>
          <p:cNvPr id="60" name="Google Shape;60;p13"/>
          <p:cNvSpPr txBox="1"/>
          <p:nvPr>
            <p:ph idx="1" type="body"/>
          </p:nvPr>
        </p:nvSpPr>
        <p:spPr>
          <a:xfrm>
            <a:off x="42975" y="658076"/>
            <a:ext cx="4154400" cy="3863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200"/>
              <a:buNone/>
            </a:pPr>
            <a:endParaRPr/>
            <a:r>
              <a:rPr lang="en"/>
              <a:t>Parent organization administrators can now view audit logs across tenant organizations deployed in different cloud regions by accessing separate connections for each region.</a:t>
            </a:r>
          </a:p>
          <a:p>
            <a:pPr indent="0" lvl="0" marL="0" rtl="0" algn="l">
              <a:lnSpc>
                <a:spcPct val="100000"/>
              </a:lnSpc>
              <a:spcBef>
                <a:spcPts val="0"/>
              </a:spcBef>
              <a:spcAft>
                <a:spcPts val="0"/>
              </a:spcAft>
              <a:buSzPts val="1200"/>
              <a:buNone/>
            </a:pPr>
            <a:r>
              <a:rPr lang="en"/>
              <a:t>Why it matters: Multi-region tenant deployments are common in enterprise contexts, and centralized audit visibility is a frequent compliance requirement. This closes a gap for parent org admins managing tenants across regions.</a:t>
            </a:r>
          </a:p>
        </p:txBody>
      </p:sp>
      <p:sp>
        <p:nvSpPr>
          <p:cNvPr id="61" name="Google Shape;61;p13"/>
          <p:cNvSpPr txBox="1"/>
          <p:nvPr/>
        </p:nvSpPr>
        <p:spPr>
          <a:xfrm>
            <a:off x="7632575" y="0"/>
            <a:ext cx="1511400" cy="374100"/>
          </a:xfrm>
          <a:prstGeom prst="rect">
            <a:avLst/>
          </a:prstGeom>
          <a:solidFill>
            <a:srgbClr val="4CEC8C"/>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292929"/>
                </a:solidFill>
                <a:latin typeface="DM Sans"/>
                <a:ea typeface="DM Sans"/>
                <a:cs typeface="DM Sans"/>
                <a:sym typeface="DM Sans"/>
              </a:rPr>
              <a:t>Beta</a:t>
            </a:r>
            <a:endParaRPr b="0" i="0" sz="1200" u="none" cap="none" strike="noStrike">
              <a:solidFill>
                <a:srgbClr val="292929"/>
              </a:solidFill>
              <a:latin typeface="DM Sans"/>
              <a:ea typeface="DM Sans"/>
              <a:cs typeface="DM Sans"/>
              <a:sym typeface="DM Sans"/>
            </a:endParaRPr>
          </a:p>
        </p:txBody>
      </p:sp>
      <p:pic>
        <p:nvPicPr>
          <p:cNvPr id="63" name="Google Shape;63;p13"/>
          <p:cNvPicPr preferRelativeResize="0"/>
          <p:nvPr/>
        </p:nvPicPr>
        <p:blipFill rotWithShape="1">
          <a:blip r:embed="rId5">
            <a:alphaModFix/>
          </a:blip>
          <a:srcRect b="0" l="0" r="0" t="0"/>
          <a:stretch/>
        </p:blipFill>
        <p:spPr>
          <a:xfrm>
            <a:off x="4179075" y="714500"/>
            <a:ext cx="4866099" cy="2128921"/>
          </a:xfrm>
          <a:prstGeom prst="rect">
            <a:avLst/>
          </a:prstGeom>
          <a:noFill/>
          <a:ln>
            <a:no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9" name="Google Shape;59;p13"/>
          <p:cNvSpPr txBox="1"/>
          <p:nvPr>
            <p:ph type="title"/>
          </p:nvPr>
        </p:nvSpPr>
        <p:spPr>
          <a:xfrm>
            <a:off x="417625" y="88900"/>
            <a:ext cx="6028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u="sng">
                <a:solidFill>
                  <a:schemeClr val="hlink"/>
                </a:solidFill>
                <a:hlinkClick r:id="rId2"/>
              </a:rPr>
              <a:t>Multiple Identity Providers Support</a:t>
            </a:r>
            <a:endParaRPr>
              <a:highlight>
                <a:srgbClr val="4CEC8C"/>
              </a:highlight>
            </a:endParaRPr>
          </a:p>
        </p:txBody>
      </p:sp>
      <p:sp>
        <p:nvSpPr>
          <p:cNvPr id="60" name="Google Shape;60;p13"/>
          <p:cNvSpPr txBox="1"/>
          <p:nvPr>
            <p:ph idx="1" type="body"/>
          </p:nvPr>
        </p:nvSpPr>
        <p:spPr>
          <a:xfrm>
            <a:off x="42975" y="658076"/>
            <a:ext cx="4154400" cy="3863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200"/>
              <a:buNone/>
            </a:pPr>
            <a:endParaRPr/>
            <a:r>
              <a:rPr lang="en"/>
              <a:t>Organizations can now enable multiple identity providers (IdPs) for enhanced authentication flexibility.</a:t>
            </a:r>
          </a:p>
          <a:p>
            <a:pPr indent="0" lvl="0" marL="0" rtl="0" algn="l">
              <a:lnSpc>
                <a:spcPct val="100000"/>
              </a:lnSpc>
              <a:spcBef>
                <a:spcPts val="0"/>
              </a:spcBef>
              <a:spcAft>
                <a:spcPts val="0"/>
              </a:spcAft>
              <a:buSzPts val="1200"/>
              <a:buNone/>
            </a:pPr>
            <a:r>
              <a:rPr lang="en"/>
              <a:t>Why it matters: Large enterprises often need to authenticate different user populations through separate IdPs — for example, employees through one provider and contractors or partners through another. GA support removes a common blocker in enterprise rollouts and security reviews.</a:t>
            </a:r>
          </a:p>
        </p:txBody>
      </p:sp>
      <p:sp>
        <p:nvSpPr>
          <p:cNvPr id="61" name="Google Shape;61;p13"/>
          <p:cNvSpPr txBox="1"/>
          <p:nvPr/>
        </p:nvSpPr>
        <p:spPr>
          <a:xfrm>
            <a:off x="7632575" y="0"/>
            <a:ext cx="1511400" cy="374100"/>
          </a:xfrm>
          <a:prstGeom prst="rect">
            <a:avLst/>
          </a:prstGeom>
          <a:solidFill>
            <a:srgbClr val="4CEC8C"/>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292929"/>
                </a:solidFill>
                <a:latin typeface="DM Sans"/>
                <a:ea typeface="DM Sans"/>
                <a:cs typeface="DM Sans"/>
                <a:sym typeface="DM Sans"/>
              </a:rPr>
              <a:t>GA</a:t>
            </a:r>
            <a:endParaRPr b="0" i="0" sz="1200" u="none" cap="none" strike="noStrike">
              <a:solidFill>
                <a:srgbClr val="292929"/>
              </a:solidFill>
              <a:latin typeface="DM Sans"/>
              <a:ea typeface="DM Sans"/>
              <a:cs typeface="DM Sans"/>
              <a:sym typeface="DM Sans"/>
            </a:endParaRPr>
          </a:p>
        </p:txBody>
      </p:sp>
      <p:pic>
        <p:nvPicPr>
          <p:cNvPr id="63" name="Google Shape;63;p13"/>
          <p:cNvPicPr preferRelativeResize="0"/>
          <p:nvPr/>
        </p:nvPicPr>
        <p:blipFill rotWithShape="1">
          <a:blip r:embed="rId5">
            <a:alphaModFix/>
          </a:blip>
          <a:srcRect b="0" l="0" r="0" t="0"/>
          <a:stretch/>
        </p:blipFill>
        <p:spPr>
          <a:xfrm>
            <a:off x="4179075" y="714500"/>
            <a:ext cx="4866099" cy="2128921"/>
          </a:xfrm>
          <a:prstGeom prst="rect">
            <a:avLst/>
          </a:prstGeom>
          <a:noFill/>
          <a:ln>
            <a:no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8" name="Google Shape;68;p12"/>
          <p:cNvSpPr txBox="1"/>
          <p:nvPr>
            <p:ph type="title"/>
          </p:nvPr>
        </p:nvSpPr>
        <p:spPr>
          <a:xfrm>
            <a:off x="116550" y="85375"/>
            <a:ext cx="6028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Administration - Quick Hits</a:t>
            </a:r>
            <a:endParaRPr/>
          </a:p>
        </p:txBody>
      </p:sp>
      <p:sp xmlns:ahyp="http://schemas.microsoft.com/office/drawing/2018/hyperlinkcolor">
        <p:nvSpPr>
          <p:cNvPr id="69" name="Google Shape;69;p12"/>
          <p:cNvSpPr txBox="1"/>
          <p:nvPr>
            <p:ph idx="4294967295" type="body"/>
          </p:nvPr>
        </p:nvSpPr>
        <p:spPr>
          <a:xfrm>
            <a:off x="116550" y="658075"/>
            <a:ext cx="8864100" cy="3987000"/>
          </a:xfrm>
          <a:prstGeom prst="rect">
            <a:avLst/>
          </a:prstGeom>
          <a:noFill/>
          <a:ln>
            <a:noFill/>
          </a:ln>
        </p:spPr>
        <p:txBody>
          <a:bodyPr anchorCtr="0" anchor="t" bIns="91425" lIns="91425" spcFirstLastPara="1" rIns="91425" wrap="square" tIns="91425">
            <a:noAutofit/>
          </a:bodyPr>
          <a:lstStyle/>
          <a:p>
            <a:pPr indent="0" lvl="0" marL="0" marR="419100" rtl="0" algn="l">
              <a:lnSpc>
                <a:spcPct val="115000"/>
              </a:lnSpc>
              <a:spcBef>
                <a:spcPts val="0"/>
              </a:spcBef>
              <a:spcAft>
                <a:spcPts val="0"/>
              </a:spcAft>
              <a:buSzPts val="1200"/>
              <a:buNone/>
            </a:pPr>
            <a:endParaRPr>
              <a:solidFill>
                <a:schemeClr val="accent5"/>
              </a:solidFill>
            </a:endParaRPr>
            <a:r>
              <a:rPr lang="en" u="sng">
                <a:solidFill>
                  <a:schemeClr val="accent5"/>
                </a:solidFill>
                <a:hlinkClick r:id="rId3">
                  <a:extLst>
                    <a:ext uri="{A12FA001-AC4F-418D-AE19-62706E023703}">
                      <ahyp:hlinkClr val="tx"/>
                    </a:ext>
                  </a:extLst>
                </a:hlinkClick>
                <a:hlinkClick r:id="rId2"/>
              </a:rPr>
              <a:t>Databricks Sample Connection</a:t>
            </a:r>
          </a:p>
          <a:p>
            <a:pPr indent="0" lvl="1" marL="0" marR="419100" rtl="0" algn="l">
              <a:lnSpc>
                <a:spcPct val="115000"/>
              </a:lnSpc>
              <a:spcBef>
                <a:spcPts val="0"/>
              </a:spcBef>
              <a:spcAft>
                <a:spcPts val="0"/>
              </a:spcAft>
              <a:buSzPts val="1200"/>
              <a:buNone/>
            </a:pPr>
            <a:r>
              <a:rPr lang="en" u="sng">
                <a:solidFill>
                  <a:schemeClr val="accent5"/>
                </a:solidFill>
                <a:hlinkClick r:id="rId3">
                  <a:extLst>
                    <a:ext uri="{A12FA001-AC4F-418D-AE19-62706E023703}">
                      <ahyp:hlinkClr val="tx"/>
                    </a:ext>
                  </a:extLst>
                </a:hlinkClick>
              </a:rPr>
              <a:t>The `Sigma Sample Catalog,` a sample Databricks connection, is now available to all Sigma organizations upon request for testing and development purposes. This gives teams a ready-made environment to explore Sigma's D...</a:t>
            </a:r>
          </a:p>
          <a:p>
            <a:pPr indent="0" lvl="0" marL="0" marR="419100" rtl="0" algn="l">
              <a:lnSpc>
                <a:spcPct val="115000"/>
              </a:lnSpc>
              <a:spcBef>
                <a:spcPts val="0"/>
              </a:spcBef>
              <a:spcAft>
                <a:spcPts val="0"/>
              </a:spcAft>
              <a:buSzPts val="1200"/>
              <a:buNone/>
            </a:pPr>
            <a:r>
              <a:rPr lang="en" u="sng">
                <a:solidFill>
                  <a:schemeClr val="accent5"/>
                </a:solidFill>
                <a:hlinkClick r:id="rId3">
                  <a:extLst>
                    <a:ext uri="{A12FA001-AC4F-418D-AE19-62706E023703}">
                      <ahyp:hlinkClr val="tx"/>
                    </a:ext>
                  </a:extLst>
                </a:hlinkClick>
              </a:rPr>
              <a:t>Sigma Templates Refinement</a:t>
            </a:r>
          </a:p>
          <a:p>
            <a:pPr indent="0" lvl="1" marL="0" marR="419100" rtl="0" algn="l">
              <a:lnSpc>
                <a:spcPct val="115000"/>
              </a:lnSpc>
              <a:spcBef>
                <a:spcPts val="0"/>
              </a:spcBef>
              <a:spcAft>
                <a:spcPts val="0"/>
              </a:spcAft>
              <a:buSzPts val="1200"/>
              <a:buNone/>
            </a:pPr>
            <a:r>
              <a:rPr lang="en" u="sng">
                <a:solidFill>
                  <a:schemeClr val="accent5"/>
                </a:solidFill>
                <a:hlinkClick r:id="rId3">
                  <a:extLst>
                    <a:ext uri="{A12FA001-AC4F-418D-AE19-62706E023703}">
                      <ahyp:hlinkClr val="tx"/>
                    </a:ext>
                  </a:extLst>
                </a:hlinkClick>
              </a:rPr>
              <a:t>To ensure that the available Sigma templates shared to every organization are relevant and high quality, some Sigma-provided templates are now hidden from the list. The following templates owned by Sigma Templates rem...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9" name="Google Shape;59;p13"/>
          <p:cNvSpPr txBox="1"/>
          <p:nvPr>
            <p:ph type="title"/>
          </p:nvPr>
        </p:nvSpPr>
        <p:spPr>
          <a:xfrm>
            <a:off x="417625" y="88900"/>
            <a:ext cx="6028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u="sng">
                <a:solidFill>
                  <a:schemeClr val="hlink"/>
                </a:solidFill>
                <a:hlinkClick r:id="rId2"/>
              </a:rPr>
              <a:t>Agent Skills for Sigma</a:t>
            </a:r>
            <a:endParaRPr>
              <a:highlight>
                <a:srgbClr val="4CEC8C"/>
              </a:highlight>
            </a:endParaRPr>
          </a:p>
        </p:txBody>
      </p:sp>
      <p:sp>
        <p:nvSpPr>
          <p:cNvPr id="60" name="Google Shape;60;p13"/>
          <p:cNvSpPr txBox="1"/>
          <p:nvPr>
            <p:ph idx="1" type="body"/>
          </p:nvPr>
        </p:nvSpPr>
        <p:spPr>
          <a:xfrm>
            <a:off x="42975" y="658076"/>
            <a:ext cx="4154400" cy="3863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200"/>
              <a:buNone/>
            </a:pPr>
            <a:endParaRPr/>
            <a:r>
              <a:rPr lang="en"/>
              <a:t>Install agent skills to enable AI assistants to authenticate to the Sigma REST API and create Sigma documents as code. Skills are available through the public skills repository.</a:t>
            </a:r>
          </a:p>
          <a:p>
            <a:pPr indent="0" lvl="0" marL="0" rtl="0" algn="l">
              <a:lnSpc>
                <a:spcPct val="100000"/>
              </a:lnSpc>
              <a:spcBef>
                <a:spcPts val="0"/>
              </a:spcBef>
              <a:spcAft>
                <a:spcPts val="0"/>
              </a:spcAft>
              <a:buSzPts val="1200"/>
              <a:buNone/>
            </a:pPr>
            <a:r>
              <a:rPr lang="en"/>
              <a:t>Why it matters: This opens Sigma to AI-driven automation workflows — agents can authenticate and build Sigma content programmatically, extending what's possible for teams embedding AI assistants into their development and analytics pipelines.</a:t>
            </a:r>
          </a:p>
        </p:txBody>
      </p:sp>
      <p:sp>
        <p:nvSpPr>
          <p:cNvPr id="61" name="Google Shape;61;p13"/>
          <p:cNvSpPr txBox="1"/>
          <p:nvPr/>
        </p:nvSpPr>
        <p:spPr>
          <a:xfrm>
            <a:off x="7632575" y="0"/>
            <a:ext cx="1511400" cy="374100"/>
          </a:xfrm>
          <a:prstGeom prst="rect">
            <a:avLst/>
          </a:prstGeom>
          <a:solidFill>
            <a:srgbClr val="4CEC8C"/>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292929"/>
                </a:solidFill>
                <a:latin typeface="DM Sans"/>
                <a:ea typeface="DM Sans"/>
                <a:cs typeface="DM Sans"/>
                <a:sym typeface="DM Sans"/>
              </a:rPr>
              <a:t>GA</a:t>
            </a:r>
            <a:endParaRPr b="0" i="0" sz="1200" u="none" cap="none" strike="noStrike">
              <a:solidFill>
                <a:srgbClr val="292929"/>
              </a:solidFill>
              <a:latin typeface="DM Sans"/>
              <a:ea typeface="DM Sans"/>
              <a:cs typeface="DM Sans"/>
              <a:sym typeface="DM Sans"/>
            </a:endParaRPr>
          </a:p>
        </p:txBody>
      </p:sp>
      <p:pic>
        <p:nvPicPr>
          <p:cNvPr id="63" name="Google Shape;63;p13"/>
          <p:cNvPicPr preferRelativeResize="0"/>
          <p:nvPr/>
        </p:nvPicPr>
        <p:blipFill rotWithShape="1">
          <a:blip r:embed="rId5">
            <a:alphaModFix/>
          </a:blip>
          <a:srcRect b="0" l="0" r="0" t="0"/>
          <a:stretch/>
        </p:blipFill>
        <p:spPr>
          <a:xfrm>
            <a:off x="4179075" y="714500"/>
            <a:ext cx="4866099" cy="2128921"/>
          </a:xfrm>
          <a:prstGeom prst="rect">
            <a:avLst/>
          </a:prstGeom>
          <a:noFill/>
          <a:ln>
            <a:no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8" name="Google Shape;68;p12"/>
          <p:cNvSpPr txBox="1"/>
          <p:nvPr>
            <p:ph type="title"/>
          </p:nvPr>
        </p:nvSpPr>
        <p:spPr>
          <a:xfrm>
            <a:off x="116550" y="85375"/>
            <a:ext cx="6028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API - Quick Hits</a:t>
            </a:r>
            <a:endParaRPr/>
          </a:p>
        </p:txBody>
      </p:sp>
      <p:sp xmlns:ahyp="http://schemas.microsoft.com/office/drawing/2018/hyperlinkcolor">
        <p:nvSpPr>
          <p:cNvPr id="69" name="Google Shape;69;p12"/>
          <p:cNvSpPr txBox="1"/>
          <p:nvPr>
            <p:ph idx="4294967295" type="body"/>
          </p:nvPr>
        </p:nvSpPr>
        <p:spPr>
          <a:xfrm>
            <a:off x="116550" y="658075"/>
            <a:ext cx="8864100" cy="3987000"/>
          </a:xfrm>
          <a:prstGeom prst="rect">
            <a:avLst/>
          </a:prstGeom>
          <a:noFill/>
          <a:ln>
            <a:noFill/>
          </a:ln>
        </p:spPr>
        <p:txBody>
          <a:bodyPr anchorCtr="0" anchor="t" bIns="91425" lIns="91425" spcFirstLastPara="1" rIns="91425" wrap="square" tIns="91425">
            <a:noAutofit/>
          </a:bodyPr>
          <a:lstStyle/>
          <a:p>
            <a:pPr indent="0" lvl="0" marL="0" marR="419100" rtl="0" algn="l">
              <a:lnSpc>
                <a:spcPct val="115000"/>
              </a:lnSpc>
              <a:spcBef>
                <a:spcPts val="0"/>
              </a:spcBef>
              <a:spcAft>
                <a:spcPts val="0"/>
              </a:spcAft>
              <a:buSzPts val="1200"/>
              <a:buNone/>
            </a:pPr>
            <a:endParaRPr>
              <a:solidFill>
                <a:schemeClr val="accent5"/>
              </a:solidFill>
            </a:endParaRPr>
            <a:r>
              <a:rPr lang="en" u="sng">
                <a:solidFill>
                  <a:schemeClr val="accent5"/>
                </a:solidFill>
                <a:hlinkClick r:id="rId3">
                  <a:extLst>
                    <a:ext uri="{A12FA001-AC4F-418D-AE19-62706E023703}">
                      <ahyp:hlinkClr val="tx"/>
                    </a:ext>
                  </a:extLst>
                </a:hlinkClick>
                <a:hlinkClick r:id="rId2"/>
              </a:rPr>
              <a:t>Custom SQL Elements in List Sources Endpoints</a:t>
            </a:r>
          </a:p>
          <a:p>
            <a:pPr indent="0" lvl="1" marL="0" marR="419100" rtl="0" algn="l">
              <a:lnSpc>
                <a:spcPct val="115000"/>
              </a:lnSpc>
              <a:spcBef>
                <a:spcPts val="0"/>
              </a:spcBef>
              <a:spcAft>
                <a:spcPts val="0"/>
              </a:spcAft>
              <a:buSzPts val="1200"/>
              <a:buNone/>
            </a:pPr>
            <a:r>
              <a:rPr lang="en" u="sng">
                <a:solidFill>
                  <a:schemeClr val="accent5"/>
                </a:solidFill>
                <a:hlinkClick r:id="rId3">
                  <a:extLst>
                    <a:ext uri="{A12FA001-AC4F-418D-AE19-62706E023703}">
                      <ahyp:hlinkClr val="tx"/>
                    </a:ext>
                  </a:extLst>
                </a:hlinkClick>
              </a:rPr>
              <a:t>The `List data model sources`, `List workbook sources`, and `List report sources` endpoints now include custom SQL elements in their responses.</a:t>
            </a:r>
          </a:p>
          <a:p>
            <a:pPr indent="0" lvl="0" marL="0" marR="419100" rtl="0" algn="l">
              <a:lnSpc>
                <a:spcPct val="115000"/>
              </a:lnSpc>
              <a:spcBef>
                <a:spcPts val="0"/>
              </a:spcBef>
              <a:spcAft>
                <a:spcPts val="0"/>
              </a:spcAft>
              <a:buSzPts val="1200"/>
              <a:buNone/>
            </a:pPr>
            <a:r>
              <a:rPr lang="en" u="sng">
                <a:solidFill>
                  <a:schemeClr val="accent5"/>
                </a:solidFill>
                <a:hlinkClick r:id="rId3">
                  <a:extLst>
                    <a:ext uri="{A12FA001-AC4F-418D-AE19-62706E023703}">
                      <ahyp:hlinkClr val="tx"/>
                    </a:ext>
                  </a:extLst>
                </a:hlinkClick>
                <a:hlinkClick r:id="rId3"/>
              </a:rPr>
              <a:t>New API Endpoint for Setting Organization Time Zone</a:t>
            </a:r>
          </a:p>
          <a:p>
            <a:pPr indent="0" lvl="1" marL="0" marR="419100" rtl="0" algn="l">
              <a:lnSpc>
                <a:spcPct val="115000"/>
              </a:lnSpc>
              <a:spcBef>
                <a:spcPts val="0"/>
              </a:spcBef>
              <a:spcAft>
                <a:spcPts val="0"/>
              </a:spcAft>
              <a:buSzPts val="1200"/>
              <a:buNone/>
            </a:pPr>
            <a:r>
              <a:rPr lang="en" u="sng">
                <a:solidFill>
                  <a:schemeClr val="accent5"/>
                </a:solidFill>
                <a:hlinkClick r:id="rId3">
                  <a:extLst>
                    <a:ext uri="{A12FA001-AC4F-418D-AE19-62706E023703}">
                      <ahyp:hlinkClr val="tx"/>
                    </a:ext>
                  </a:extLst>
                </a:hlinkClick>
              </a:rPr>
              <a:t>The `Update organization settings` endpoint (`PATCH /v2/organizations/settings`) configures the time zone of an organization, including Sigma Tenants — useful for admins managing multi-region deployments programmatica...</a:t>
            </a:r>
          </a:p>
          <a:p>
            <a:pPr indent="0" lvl="0" marL="0" marR="419100" rtl="0" algn="l">
              <a:lnSpc>
                <a:spcPct val="115000"/>
              </a:lnSpc>
              <a:spcBef>
                <a:spcPts val="0"/>
              </a:spcBef>
              <a:spcAft>
                <a:spcPts val="0"/>
              </a:spcAft>
              <a:buSzPts val="1200"/>
              <a:buNone/>
            </a:pPr>
            <a:r>
              <a:rPr lang="en" u="sng">
                <a:solidFill>
                  <a:schemeClr val="accent5"/>
                </a:solidFill>
                <a:hlinkClick r:id="rId3">
                  <a:extLst>
                    <a:ext uri="{A12FA001-AC4F-418D-AE19-62706E023703}">
                      <ahyp:hlinkClr val="tx"/>
                    </a:ext>
                  </a:extLst>
                </a:hlinkClick>
              </a:rPr>
              <a:t>New API Endpoints for Managing Credentials and Connectors</a:t>
            </a:r>
          </a:p>
          <a:p>
            <a:pPr indent="0" lvl="1" marL="0" marR="419100" rtl="0" algn="l">
              <a:lnSpc>
                <a:spcPct val="115000"/>
              </a:lnSpc>
              <a:spcBef>
                <a:spcPts val="0"/>
              </a:spcBef>
              <a:spcAft>
                <a:spcPts val="0"/>
              </a:spcAft>
              <a:buSzPts val="1200"/>
              <a:buNone/>
            </a:pPr>
            <a:r>
              <a:rPr lang="en" u="sng">
                <a:solidFill>
                  <a:schemeClr val="accent5"/>
                </a:solidFill>
                <a:hlinkClick r:id="rId3">
                  <a:extLst>
                    <a:ext uri="{A12FA001-AC4F-418D-AE19-62706E023703}">
                      <ahyp:hlinkClr val="tx"/>
                    </a:ext>
                  </a:extLst>
                </a:hlinkClick>
              </a:rPr>
              <a:t>Ten new endpoints provide programmatic management of API credentials and connectors: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8" name="Google Shape;68;p12"/>
          <p:cNvSpPr txBox="1"/>
          <p:nvPr>
            <p:ph type="title"/>
          </p:nvPr>
        </p:nvSpPr>
        <p:spPr>
          <a:xfrm>
            <a:off x="116550" y="85375"/>
            <a:ext cx="6028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Charts - Quick Hits</a:t>
            </a:r>
            <a:endParaRPr/>
          </a:p>
        </p:txBody>
      </p:sp>
      <p:sp xmlns:ahyp="http://schemas.microsoft.com/office/drawing/2018/hyperlinkcolor">
        <p:nvSpPr>
          <p:cNvPr id="69" name="Google Shape;69;p12"/>
          <p:cNvSpPr txBox="1"/>
          <p:nvPr>
            <p:ph idx="4294967295" type="body"/>
          </p:nvPr>
        </p:nvSpPr>
        <p:spPr>
          <a:xfrm>
            <a:off x="116550" y="658075"/>
            <a:ext cx="8864100" cy="3987000"/>
          </a:xfrm>
          <a:prstGeom prst="rect">
            <a:avLst/>
          </a:prstGeom>
          <a:noFill/>
          <a:ln>
            <a:noFill/>
          </a:ln>
        </p:spPr>
        <p:txBody>
          <a:bodyPr anchorCtr="0" anchor="t" bIns="91425" lIns="91425" spcFirstLastPara="1" rIns="91425" wrap="square" tIns="91425">
            <a:noAutofit/>
          </a:bodyPr>
          <a:lstStyle/>
          <a:p>
            <a:pPr indent="0" lvl="0" marL="0" marR="419100" rtl="0" algn="l">
              <a:lnSpc>
                <a:spcPct val="115000"/>
              </a:lnSpc>
              <a:spcBef>
                <a:spcPts val="0"/>
              </a:spcBef>
              <a:spcAft>
                <a:spcPts val="0"/>
              </a:spcAft>
              <a:buSzPts val="1200"/>
              <a:buNone/>
            </a:pPr>
            <a:endParaRPr>
              <a:solidFill>
                <a:schemeClr val="accent5"/>
              </a:solidFill>
            </a:endParaRPr>
            <a:r>
              <a:rPr lang="en" u="sng">
                <a:solidFill>
                  <a:schemeClr val="accent5"/>
                </a:solidFill>
                <a:hlinkClick r:id="rId3">
                  <a:extLst>
                    <a:ext uri="{A12FA001-AC4F-418D-AE19-62706E023703}">
                      <ahyp:hlinkClr val="tx"/>
                    </a:ext>
                  </a:extLst>
                </a:hlinkClick>
              </a:rPr>
              <a:t>Data Labels for Geography Maps</a:t>
            </a:r>
          </a:p>
          <a:p>
            <a:pPr indent="0" lvl="1" marL="0" marR="419100" rtl="0" algn="l">
              <a:lnSpc>
                <a:spcPct val="115000"/>
              </a:lnSpc>
              <a:spcBef>
                <a:spcPts val="0"/>
              </a:spcBef>
              <a:spcAft>
                <a:spcPts val="0"/>
              </a:spcAft>
              <a:buSzPts val="1200"/>
              <a:buNone/>
            </a:pPr>
            <a:r>
              <a:rPr lang="en" u="sng">
                <a:solidFill>
                  <a:schemeClr val="accent5"/>
                </a:solidFill>
                <a:hlinkClick r:id="rId3">
                  <a:extLst>
                    <a:ext uri="{A12FA001-AC4F-418D-AE19-62706E023703}">
                      <ahyp:hlinkClr val="tx"/>
                    </a:ext>
                  </a:extLst>
                </a:hlinkClick>
              </a:rPr>
              <a:t>Users can now configure custom data labels on geography maps through the `Properties` tab's `Label` option.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9" name="Google Shape;59;p13"/>
          <p:cNvSpPr txBox="1"/>
          <p:nvPr>
            <p:ph type="title"/>
          </p:nvPr>
        </p:nvSpPr>
        <p:spPr>
          <a:xfrm>
            <a:off x="417625" y="88900"/>
            <a:ext cx="6028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u="sng">
                <a:solidFill>
                  <a:schemeClr val="hlink"/>
                </a:solidFill>
                <a:hlinkClick r:id="rId2"/>
              </a:rPr>
              <a:t>dbt Core integration</a:t>
            </a:r>
            <a:endParaRPr>
              <a:highlight>
                <a:srgbClr val="4CEC8C"/>
              </a:highlight>
            </a:endParaRPr>
          </a:p>
        </p:txBody>
      </p:sp>
      <p:sp>
        <p:nvSpPr>
          <p:cNvPr id="60" name="Google Shape;60;p13"/>
          <p:cNvSpPr txBox="1"/>
          <p:nvPr>
            <p:ph idx="1" type="body"/>
          </p:nvPr>
        </p:nvSpPr>
        <p:spPr>
          <a:xfrm>
            <a:off x="42975" y="658076"/>
            <a:ext cx="4154400" cy="3863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200"/>
              <a:buNone/>
            </a:pPr>
            <a:endParaRPr/>
            <a:r>
              <a:rPr lang="en"/>
              <a:t>Add metadata from dbt Core run output to Sigma for visualizing freshness data, monitoring data quality, and displaying table and column descriptions configured in dbt directly within Sigma. Upload dbt artifacts using the dedicated endpoint.</a:t>
            </a:r>
          </a:p>
          <a:p>
            <a:pPr indent="0" lvl="0" marL="0" rtl="0" algn="l">
              <a:lnSpc>
                <a:spcPct val="100000"/>
              </a:lnSpc>
              <a:spcBef>
                <a:spcPts val="0"/>
              </a:spcBef>
              <a:spcAft>
                <a:spcPts val="0"/>
              </a:spcAft>
              <a:buSzPts val="1200"/>
              <a:buNone/>
            </a:pPr>
            <a:r>
              <a:rPr lang="en"/>
              <a:t>Why it matters: dbt Core is the de facto transformation tool in modern data stacks. Bringing dbt freshness, data quality, and table/column descriptions directly into Sigma closes the gap between the transformation layer and the BI layer — analysts no longer need to context-switch to dbt docs to understand what they're looking at.</a:t>
            </a:r>
          </a:p>
        </p:txBody>
      </p:sp>
      <p:sp>
        <p:nvSpPr>
          <p:cNvPr id="61" name="Google Shape;61;p13"/>
          <p:cNvSpPr txBox="1"/>
          <p:nvPr/>
        </p:nvSpPr>
        <p:spPr>
          <a:xfrm>
            <a:off x="7632575" y="0"/>
            <a:ext cx="1511400" cy="374100"/>
          </a:xfrm>
          <a:prstGeom prst="rect">
            <a:avLst/>
          </a:prstGeom>
          <a:solidFill>
            <a:srgbClr val="4CEC8C"/>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292929"/>
                </a:solidFill>
                <a:latin typeface="DM Sans"/>
                <a:ea typeface="DM Sans"/>
                <a:cs typeface="DM Sans"/>
                <a:sym typeface="DM Sans"/>
              </a:rPr>
              <a:t>Beta</a:t>
            </a:r>
            <a:endParaRPr b="0" i="0" sz="1200" u="none" cap="none" strike="noStrike">
              <a:solidFill>
                <a:srgbClr val="292929"/>
              </a:solidFill>
              <a:latin typeface="DM Sans"/>
              <a:ea typeface="DM Sans"/>
              <a:cs typeface="DM Sans"/>
              <a:sym typeface="DM Sans"/>
            </a:endParaRPr>
          </a:p>
        </p:txBody>
      </p:sp>
      <p:pic>
        <p:nvPicPr>
          <p:cNvPr id="63" name="Google Shape;63;p13"/>
          <p:cNvPicPr preferRelativeResize="0"/>
          <p:nvPr/>
        </p:nvPicPr>
        <p:blipFill rotWithShape="1">
          <a:blip r:embed="rId5">
            <a:alphaModFix/>
          </a:blip>
          <a:srcRect b="0" l="0" r="0" t="0"/>
          <a:stretch/>
        </p:blipFill>
        <p:spPr>
          <a:xfrm>
            <a:off x="4179075" y="714500"/>
            <a:ext cx="4866099" cy="2128921"/>
          </a:xfrm>
          <a:prstGeom prst="rect">
            <a:avLst/>
          </a:prstGeom>
          <a:noFill/>
          <a:ln>
            <a:noFill/>
          </a:ln>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8" name="Google Shape;68;p12"/>
          <p:cNvSpPr txBox="1"/>
          <p:nvPr>
            <p:ph type="title"/>
          </p:nvPr>
        </p:nvSpPr>
        <p:spPr>
          <a:xfrm>
            <a:off x="116550" y="85375"/>
            <a:ext cx="6028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Workbooks - Quick Hits</a:t>
            </a:r>
            <a:endParaRPr/>
          </a:p>
        </p:txBody>
      </p:sp>
      <p:sp xmlns:ahyp="http://schemas.microsoft.com/office/drawing/2018/hyperlinkcolor">
        <p:nvSpPr>
          <p:cNvPr id="69" name="Google Shape;69;p12"/>
          <p:cNvSpPr txBox="1"/>
          <p:nvPr>
            <p:ph idx="4294967295" type="body"/>
          </p:nvPr>
        </p:nvSpPr>
        <p:spPr>
          <a:xfrm>
            <a:off x="116550" y="658075"/>
            <a:ext cx="8864100" cy="3987000"/>
          </a:xfrm>
          <a:prstGeom prst="rect">
            <a:avLst/>
          </a:prstGeom>
          <a:noFill/>
          <a:ln>
            <a:noFill/>
          </a:ln>
        </p:spPr>
        <p:txBody>
          <a:bodyPr anchorCtr="0" anchor="t" bIns="91425" lIns="91425" spcFirstLastPara="1" rIns="91425" wrap="square" tIns="91425">
            <a:noAutofit/>
          </a:bodyPr>
          <a:lstStyle/>
          <a:p>
            <a:pPr indent="0" lvl="0" marL="0" marR="419100" rtl="0" algn="l">
              <a:lnSpc>
                <a:spcPct val="115000"/>
              </a:lnSpc>
              <a:spcBef>
                <a:spcPts val="0"/>
              </a:spcBef>
              <a:spcAft>
                <a:spcPts val="0"/>
              </a:spcAft>
              <a:buSzPts val="1200"/>
              <a:buNone/>
            </a:pPr>
            <a:endParaRPr>
              <a:solidFill>
                <a:schemeClr val="accent5"/>
              </a:solidFill>
            </a:endParaRPr>
            <a:r>
              <a:rPr lang="en" u="sng">
                <a:solidFill>
                  <a:schemeClr val="accent5"/>
                </a:solidFill>
                <a:hlinkClick r:id="rId3">
                  <a:extLst>
                    <a:ext uri="{A12FA001-AC4F-418D-AE19-62706E023703}">
                      <ahyp:hlinkClr val="tx"/>
                    </a:ext>
                  </a:extLst>
                </a:hlinkClick>
                <a:hlinkClick r:id="rId2"/>
              </a:rPr>
              <a:t>Hierarchy column actions and control improvements — Public Beta</a:t>
            </a:r>
          </a:p>
          <a:p>
            <a:pPr indent="0" lvl="1" marL="0" marR="419100" rtl="0" algn="l">
              <a:lnSpc>
                <a:spcPct val="115000"/>
              </a:lnSpc>
              <a:spcBef>
                <a:spcPts val="0"/>
              </a:spcBef>
              <a:spcAft>
                <a:spcPts val="0"/>
              </a:spcAft>
              <a:buSzPts val="1200"/>
              <a:buNone/>
            </a:pPr>
            <a:r>
              <a:rPr lang="en" u="sng">
                <a:solidFill>
                  <a:schemeClr val="accent5"/>
                </a:solidFill>
                <a:hlinkClick r:id="rId3">
                  <a:extLst>
                    <a:ext uri="{A12FA001-AC4F-418D-AE19-62706E023703}">
                      <ahyp:hlinkClr val="tx"/>
                    </a:ext>
                  </a:extLst>
                </a:hlinkClick>
              </a:rPr>
              <a:t>Hierarchies now support actions for interactivity, selection of up to 1,000 values from search results, and an `Expand all levels` option that reveals every hierarchy level at once.</a:t>
            </a:r>
          </a:p>
          <a:p>
            <a:pPr indent="0" lvl="0" marL="0" marR="419100" rtl="0" algn="l">
              <a:lnSpc>
                <a:spcPct val="115000"/>
              </a:lnSpc>
              <a:spcBef>
                <a:spcPts val="0"/>
              </a:spcBef>
              <a:spcAft>
                <a:spcPts val="0"/>
              </a:spcAft>
              <a:buSzPts val="1200"/>
              <a:buNone/>
            </a:pPr>
            <a:r>
              <a:rPr lang="en" u="sng">
                <a:solidFill>
                  <a:schemeClr val="accent5"/>
                </a:solidFill>
                <a:hlinkClick r:id="rId3">
                  <a:extLst>
                    <a:ext uri="{A12FA001-AC4F-418D-AE19-62706E023703}">
                      <ahyp:hlinkClr val="tx"/>
                    </a:ext>
                  </a:extLst>
                </a:hlinkClick>
              </a:rPr>
              <a:t>Terminology Change - Your Documents</a:t>
            </a:r>
          </a:p>
          <a:p>
            <a:pPr indent="0" lvl="1" marL="0" marR="419100" rtl="0" algn="l">
              <a:lnSpc>
                <a:spcPct val="115000"/>
              </a:lnSpc>
              <a:spcBef>
                <a:spcPts val="0"/>
              </a:spcBef>
              <a:spcAft>
                <a:spcPts val="0"/>
              </a:spcAft>
              <a:buSzPts val="1200"/>
              <a:buNone/>
            </a:pPr>
            <a:r>
              <a:rPr lang="en" u="sng">
                <a:solidFill>
                  <a:schemeClr val="accent5"/>
                </a:solidFill>
                <a:hlinkClick r:id="rId3">
                  <a:extLst>
                    <a:ext uri="{A12FA001-AC4F-418D-AE19-62706E023703}">
                      <ahyp:hlinkClr val="tx"/>
                    </a:ext>
                  </a:extLst>
                </a:hlinkClick>
              </a:rPr>
              <a:t>We have revised the UI to consistently reference `Your documents` instead of `Documents` and `My documents` to make ownership more clear.</a:t>
            </a:r>
          </a:p>
          <a:p>
            <a:pPr indent="0" lvl="0" marL="0" marR="419100" rtl="0" algn="l">
              <a:lnSpc>
                <a:spcPct val="115000"/>
              </a:lnSpc>
              <a:spcBef>
                <a:spcPts val="0"/>
              </a:spcBef>
              <a:spcAft>
                <a:spcPts val="0"/>
              </a:spcAft>
              <a:buSzPts val="1200"/>
              <a:buNone/>
            </a:pPr>
            <a:r>
              <a:rPr lang="en" u="sng">
                <a:solidFill>
                  <a:schemeClr val="accent5"/>
                </a:solidFill>
                <a:hlinkClick r:id="rId3">
                  <a:extLst>
                    <a:ext uri="{A12FA001-AC4F-418D-AE19-62706E023703}">
                      <ahyp:hlinkClr val="tx"/>
                    </a:ext>
                  </a:extLst>
                </a:hlinkClick>
                <a:hlinkClick r:id="rId3"/>
              </a:rPr>
              <a:t>Translate Sigma UI text in workbooks</a:t>
            </a:r>
          </a:p>
          <a:p>
            <a:pPr indent="0" lvl="1" marL="0" marR="419100" rtl="0" algn="l">
              <a:lnSpc>
                <a:spcPct val="115000"/>
              </a:lnSpc>
              <a:spcBef>
                <a:spcPts val="0"/>
              </a:spcBef>
              <a:spcAft>
                <a:spcPts val="0"/>
              </a:spcAft>
              <a:buSzPts val="1200"/>
              <a:buNone/>
            </a:pPr>
            <a:r>
              <a:rPr lang="en" u="sng">
                <a:solidFill>
                  <a:schemeClr val="accent5"/>
                </a:solidFill>
                <a:hlinkClick r:id="rId3">
                  <a:extLst>
                    <a:ext uri="{A12FA001-AC4F-418D-AE19-62706E023703}">
                      <ahyp:hlinkClr val="tx"/>
                    </a:ext>
                  </a:extLst>
                </a:hlinkClick>
              </a:rPr>
              <a:t>Localize the Sigma UI in a workbook by adding the `:lng=&lt;locale&gt;` query string parameter to its URL — supports global teams that need Sigma in their working language.</a:t>
            </a:r>
          </a:p>
          <a:p>
            <a:pPr indent="0" lvl="0" marL="0" marR="419100" rtl="0" algn="l">
              <a:lnSpc>
                <a:spcPct val="115000"/>
              </a:lnSpc>
              <a:spcBef>
                <a:spcPts val="0"/>
              </a:spcBef>
              <a:spcAft>
                <a:spcPts val="0"/>
              </a:spcAft>
              <a:buSzPts val="1200"/>
              <a:buNone/>
            </a:pPr>
            <a:r>
              <a:rPr lang="en" u="sng">
                <a:solidFill>
                  <a:schemeClr val="accent5"/>
                </a:solidFill>
                <a:hlinkClick r:id="rId3">
                  <a:extLst>
                    <a:ext uri="{A12FA001-AC4F-418D-AE19-62706E023703}">
                      <ahyp:hlinkClr val="tx"/>
                    </a:ext>
                  </a:extLst>
                </a:hlinkClick>
              </a:rPr>
              <a:t>True Transparency for Element Backgrounds</a:t>
            </a:r>
          </a:p>
          <a:p>
            <a:pPr indent="0" lvl="1" marL="0" marR="419100" rtl="0" algn="l">
              <a:lnSpc>
                <a:spcPct val="115000"/>
              </a:lnSpc>
              <a:spcBef>
                <a:spcPts val="0"/>
              </a:spcBef>
              <a:spcAft>
                <a:spcPts val="0"/>
              </a:spcAft>
              <a:buSzPts val="1200"/>
              <a:buNone/>
            </a:pPr>
            <a:r>
              <a:rPr lang="en" u="sng">
                <a:solidFill>
                  <a:schemeClr val="accent5"/>
                </a:solidFill>
                <a:hlinkClick r:id="rId3">
                  <a:extLst>
                    <a:ext uri="{A12FA001-AC4F-418D-AE19-62706E023703}">
                      <ahyp:hlinkClr val="tx"/>
                    </a:ext>
                  </a:extLst>
                </a:hlinkClick>
              </a:rPr>
              <a:t>Setting an element's background color to `None` now renders as genuine transparency, allowing page and container background images to show through rather than defaulting to the background color.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4" name="Google Shape;74;p131"/>
          <p:cNvSpPr txBox="1"/>
          <p:nvPr>
            <p:ph type="title"/>
          </p:nvPr>
        </p:nvSpPr>
        <p:spPr>
          <a:xfrm>
            <a:off x="150975" y="85375"/>
            <a:ext cx="6028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New QuickStarts in May</a:t>
            </a:r>
            <a:endParaRPr/>
          </a:p>
        </p:txBody>
      </p:sp>
      <p:sp>
        <p:nvSpPr>
          <p:cNvPr id="75" name="Google Shape;75;p131"/>
          <p:cNvSpPr txBox="1"/>
          <p:nvPr>
            <p:ph idx="1" type="body"/>
          </p:nvPr>
        </p:nvSpPr>
        <p:spPr>
          <a:xfrm>
            <a:off x="150975" y="696350"/>
            <a:ext cx="8697000" cy="3863400"/>
          </a:xfrm>
          <a:prstGeom prst="rect">
            <a:avLst/>
          </a:prstGeom>
          <a:noFill/>
          <a:ln>
            <a:noFill/>
          </a:ln>
        </p:spPr>
        <p:txBody>
          <a:bodyPr anchorCtr="0" anchor="t" bIns="91425" lIns="91425" spcFirstLastPara="1" rIns="91425" wrap="square" tIns="91425">
            <a:noAutofit/>
          </a:bodyPr>
          <a:lstStyle/>
          <a:p>
            <a:pPr indent="0" lvl="0" marL="0" marR="419100" rtl="0" algn="l">
              <a:lnSpc>
                <a:spcPct val="115000"/>
              </a:lnSpc>
              <a:spcBef>
                <a:spcPts val="0"/>
              </a:spcBef>
              <a:spcAft>
                <a:spcPts val="0"/>
              </a:spcAft>
              <a:buSzPts val="1400"/>
              <a:buNone/>
            </a:pPr>
            <a:endParaRPr/>
            <a:r>
              <a:rPr lang="en" u="sng">
                <a:solidFill>
                  <a:schemeClr val="hlink"/>
                </a:solidFill>
                <a:hlinkClick r:id="rId3"/>
                <a:hlinkClick r:id="rId2"/>
              </a:rPr>
              <a:t>Sigma Skills for AI Assistants</a:t>
            </a:r>
          </a:p>
          <a:p>
            <a:pPr indent="0" lvl="1" marL="0" marR="419100" rtl="0" algn="l">
              <a:lnSpc>
                <a:spcPct val="115000"/>
              </a:lnSpc>
              <a:spcBef>
                <a:spcPts val="0"/>
              </a:spcBef>
              <a:spcAft>
                <a:spcPts val="0"/>
              </a:spcAft>
              <a:buSzPts val="1400"/>
              <a:buNone/>
            </a:pPr>
            <a:r>
              <a:rPr lang="en" u="sng">
                <a:solidFill>
                  <a:schemeClr val="hlink"/>
                </a:solidFill>
                <a:hlinkClick r:id="rId3"/>
              </a:rPr>
              <a:t>This QuickStart shows how to install and use Sigma's open-source agent skills in Claude Code so an AI assistant can authenticate to Sigma, call the REST API, and build data models through natural-language prompts.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0" name="Google Shape;80;p132"/>
          <p:cNvSpPr txBox="1"/>
          <p:nvPr>
            <p:ph type="title"/>
          </p:nvPr>
        </p:nvSpPr>
        <p:spPr>
          <a:xfrm>
            <a:off x="150975" y="85375"/>
            <a:ext cx="6028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Bug Fixes</a:t>
            </a:r>
            <a:endParaRPr/>
          </a:p>
        </p:txBody>
      </p:sp>
      <p:sp>
        <p:nvSpPr>
          <p:cNvPr id="81" name="Google Shape;81;p132"/>
          <p:cNvSpPr txBox="1"/>
          <p:nvPr>
            <p:ph idx="1" type="body"/>
          </p:nvPr>
        </p:nvSpPr>
        <p:spPr>
          <a:xfrm>
            <a:off x="42975" y="658075"/>
            <a:ext cx="8919900" cy="3863400"/>
          </a:xfrm>
          <a:prstGeom prst="rect">
            <a:avLst/>
          </a:prstGeom>
          <a:noFill/>
          <a:ln>
            <a:noFill/>
          </a:ln>
        </p:spPr>
        <p:txBody>
          <a:bodyPr anchorCtr="0" anchor="t" bIns="91425" lIns="91425" spcFirstLastPara="1" rIns="91425" wrap="square" tIns="91425">
            <a:noAutofit/>
          </a:bodyPr>
          <a:lstStyle/>
          <a:p>
            <a:pPr indent="-304800" lvl="0" marL="457200" marR="419100" rtl="0" algn="l">
              <a:lnSpc>
                <a:spcPct val="150000"/>
              </a:lnSpc>
              <a:spcBef>
                <a:spcPts val="0"/>
              </a:spcBef>
              <a:spcAft>
                <a:spcPts val="0"/>
              </a:spcAft>
              <a:buSzPts val="1200"/>
              <a:buAutoNum type="arabicPeriod"/>
            </a:pPr>
            <a:endParaRPr sz="1200"/>
            <a:r>
              <a:rPr b="1" lang="en" sz="1200"/>
              <a:t>Invalid Image URL Warning — The editor now displays an Invalid image URL alert when background image URLs are malformed.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6" name="Google Shape;86;g3e4b3e1e7cb_0_4"/>
          <p:cNvSpPr txBox="1"/>
          <p:nvPr>
            <p:ph idx="4294967295" type="title"/>
          </p:nvPr>
        </p:nvSpPr>
        <p:spPr>
          <a:xfrm>
            <a:off x="255775" y="215350"/>
            <a:ext cx="4631700" cy="6186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4000"/>
              <a:buNone/>
            </a:pPr>
            <a:r>
              <a:rPr lang="en" sz="2800">
                <a:solidFill>
                  <a:schemeClr val="lt1"/>
                </a:solidFill>
              </a:rPr>
              <a:t>Additional Resources</a:t>
            </a:r>
            <a:endParaRPr sz="2800">
              <a:solidFill>
                <a:schemeClr val="lt1"/>
              </a:solidFill>
            </a:endParaRPr>
          </a:p>
        </p:txBody>
      </p:sp>
      <p:pic>
        <p:nvPicPr>
          <p:cNvPr id="87" name="Google Shape;87;g3e4b3e1e7cb_0_4">
            <a:hlinkClick r:id="rId3"/>
          </p:cNvPr>
          <p:cNvPicPr preferRelativeResize="0"/>
          <p:nvPr/>
        </p:nvPicPr>
        <p:blipFill rotWithShape="1">
          <a:blip r:embed="rId4">
            <a:alphaModFix/>
          </a:blip>
          <a:srcRect b="0" l="0" r="0" t="0"/>
          <a:stretch/>
        </p:blipFill>
        <p:spPr>
          <a:xfrm>
            <a:off x="1668675" y="2859850"/>
            <a:ext cx="1266825" cy="1266825"/>
          </a:xfrm>
          <a:prstGeom prst="rect">
            <a:avLst/>
          </a:prstGeom>
          <a:noFill/>
          <a:ln>
            <a:noFill/>
          </a:ln>
        </p:spPr>
      </p:pic>
      <p:pic>
        <p:nvPicPr>
          <p:cNvPr id="88" name="Google Shape;88;g3e4b3e1e7cb_0_4">
            <a:hlinkClick r:id="rId5"/>
          </p:cNvPr>
          <p:cNvPicPr preferRelativeResize="0"/>
          <p:nvPr/>
        </p:nvPicPr>
        <p:blipFill rotWithShape="1">
          <a:blip r:embed="rId6">
            <a:alphaModFix/>
          </a:blip>
          <a:srcRect b="0" l="0" r="0" t="0"/>
          <a:stretch/>
        </p:blipFill>
        <p:spPr>
          <a:xfrm>
            <a:off x="3123200" y="2859863"/>
            <a:ext cx="1266825" cy="1266825"/>
          </a:xfrm>
          <a:prstGeom prst="rect">
            <a:avLst/>
          </a:prstGeom>
          <a:noFill/>
          <a:ln>
            <a:noFill/>
          </a:ln>
        </p:spPr>
      </p:pic>
      <p:pic>
        <p:nvPicPr>
          <p:cNvPr id="89" name="Google Shape;89;g3e4b3e1e7cb_0_4">
            <a:hlinkClick r:id="rId7"/>
          </p:cNvPr>
          <p:cNvPicPr preferRelativeResize="0"/>
          <p:nvPr/>
        </p:nvPicPr>
        <p:blipFill rotWithShape="1">
          <a:blip r:embed="rId8">
            <a:alphaModFix/>
          </a:blip>
          <a:srcRect b="10405" l="13111" r="12771" t="12003"/>
          <a:stretch/>
        </p:blipFill>
        <p:spPr>
          <a:xfrm>
            <a:off x="255775" y="2830163"/>
            <a:ext cx="1266824" cy="1326207"/>
          </a:xfrm>
          <a:prstGeom prst="rect">
            <a:avLst/>
          </a:prstGeom>
          <a:noFill/>
          <a:ln>
            <a:noFill/>
          </a:ln>
        </p:spPr>
      </p:pic>
      <p:sp xmlns:ahyp="http://schemas.microsoft.com/office/drawing/2018/hyperlinkcolor">
        <p:nvSpPr>
          <p:cNvPr id="90" name="Google Shape;90;g3e4b3e1e7cb_0_4"/>
          <p:cNvSpPr txBox="1"/>
          <p:nvPr/>
        </p:nvSpPr>
        <p:spPr>
          <a:xfrm>
            <a:off x="215975" y="1086700"/>
            <a:ext cx="4874100" cy="1520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950"/>
              <a:buFont typeface="Arial"/>
              <a:buNone/>
            </a:pPr>
            <a:r>
              <a:rPr b="0" i="0" lang="en" sz="1950" u="none" cap="none" strike="noStrike">
                <a:solidFill>
                  <a:schemeClr val="lt1"/>
                </a:solidFill>
                <a:uFill>
                  <a:noFill/>
                </a:uFill>
                <a:latin typeface="Roboto"/>
                <a:ea typeface="Roboto"/>
                <a:cs typeface="Roboto"/>
                <a:sym typeface="Roboto"/>
                <a:hlinkClick r:id="rId9">
                  <a:extLst>
                    <a:ext uri="{A12FA001-AC4F-418D-AE19-62706E023703}">
                      <ahyp:hlinkClr val="tx"/>
                    </a:ext>
                  </a:extLst>
                </a:hlinkClick>
              </a:rPr>
              <a:t>Blog</a:t>
            </a:r>
            <a:endParaRPr b="0" i="0" sz="1950" u="none" cap="none" strike="noStrike">
              <a:solidFill>
                <a:schemeClr val="lt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950"/>
              <a:buFont typeface="Arial"/>
              <a:buNone/>
            </a:pPr>
            <a:r>
              <a:rPr b="0" i="0" lang="en" sz="1950" u="none" cap="none" strike="noStrike">
                <a:solidFill>
                  <a:schemeClr val="lt1"/>
                </a:solidFill>
                <a:uFill>
                  <a:noFill/>
                </a:uFill>
                <a:latin typeface="Roboto"/>
                <a:ea typeface="Roboto"/>
                <a:cs typeface="Roboto"/>
                <a:sym typeface="Roboto"/>
                <a:hlinkClick r:id="rId10">
                  <a:extLst>
                    <a:ext uri="{A12FA001-AC4F-418D-AE19-62706E023703}">
                      <ahyp:hlinkClr val="tx"/>
                    </a:ext>
                  </a:extLst>
                </a:hlinkClick>
              </a:rPr>
              <a:t>Community</a:t>
            </a:r>
            <a:endParaRPr b="0" i="0" sz="1950" u="none" cap="none" strike="noStrike">
              <a:solidFill>
                <a:schemeClr val="lt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950"/>
              <a:buFont typeface="Arial"/>
              <a:buNone/>
            </a:pPr>
            <a:r>
              <a:rPr b="0" i="0" lang="en" sz="1950" u="none" cap="none" strike="noStrike">
                <a:solidFill>
                  <a:schemeClr val="lt1"/>
                </a:solidFill>
                <a:uFill>
                  <a:noFill/>
                </a:uFill>
                <a:latin typeface="Roboto"/>
                <a:ea typeface="Roboto"/>
                <a:cs typeface="Roboto"/>
                <a:sym typeface="Roboto"/>
                <a:hlinkClick r:id="rId11">
                  <a:extLst>
                    <a:ext uri="{A12FA001-AC4F-418D-AE19-62706E023703}">
                      <ahyp:hlinkClr val="tx"/>
                    </a:ext>
                  </a:extLst>
                </a:hlinkClick>
              </a:rPr>
              <a:t>Help Center</a:t>
            </a:r>
            <a:endParaRPr b="0" i="0" sz="195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950"/>
              <a:buFont typeface="Arial"/>
              <a:buNone/>
            </a:pPr>
            <a:r>
              <a:rPr b="0" i="0" lang="en" sz="1950" u="none" cap="none" strike="noStrike">
                <a:solidFill>
                  <a:schemeClr val="lt1"/>
                </a:solidFill>
                <a:uFill>
                  <a:noFill/>
                </a:uFill>
                <a:latin typeface="Roboto"/>
                <a:ea typeface="Roboto"/>
                <a:cs typeface="Roboto"/>
                <a:sym typeface="Roboto"/>
                <a:hlinkClick r:id="rId12">
                  <a:extLst>
                    <a:ext uri="{A12FA001-AC4F-418D-AE19-62706E023703}">
                      <ahyp:hlinkClr val="tx"/>
                    </a:ext>
                  </a:extLst>
                </a:hlinkClick>
              </a:rPr>
              <a:t>QuickStarts</a:t>
            </a:r>
            <a:endParaRPr b="0" i="0" sz="23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