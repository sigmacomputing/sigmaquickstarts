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Roboto"/>
      <p:regular r:id="rId14"/>
      <p:bold r:id="rId15"/>
      <p:italic r:id="rId16"/>
      <p:boldItalic r:id="rId17"/>
    </p:embeddedFont>
    <p:embeddedFont>
      <p:font typeface="DM Sans Light"/>
      <p:regular r:id="rId18"/>
      <p:bold r:id="rId19"/>
      <p:italic r:id="rId20"/>
      <p:boldItalic r:id="rId21"/>
    </p:embeddedFont>
    <p:embeddedFont>
      <p:font typeface="DM Sans"/>
      <p:regular r:id="rId22"/>
      <p:bold r:id="rId23"/>
      <p:italic r:id="rId24"/>
      <p:boldItalic r:id="rId25"/>
    </p:embeddedFont>
    <p:embeddedFont>
      <p:font typeface="DM Mono"/>
      <p:regular r:id="rId26"/>
      <p: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8" roundtripDataSignature="AMtx7miN4SNf3a1FfKM85rXOvPA+Vg0i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70D2BA-9617-4BF3-B3EC-A2AA27411165}">
  <a:tblStyle styleId="{9270D2BA-9617-4BF3-B3EC-A2AA2741116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DMSansLight-italic.fntdata"/><Relationship Id="rId22" Type="http://schemas.openxmlformats.org/officeDocument/2006/relationships/font" Target="fonts/DMSans-regular.fntdata"/><Relationship Id="rId21" Type="http://schemas.openxmlformats.org/officeDocument/2006/relationships/font" Target="fonts/DMSansLight-boldItalic.fntdata"/><Relationship Id="rId24" Type="http://schemas.openxmlformats.org/officeDocument/2006/relationships/font" Target="fonts/DMSans-italic.fntdata"/><Relationship Id="rId23" Type="http://schemas.openxmlformats.org/officeDocument/2006/relationships/font" Target="fonts/DM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DMMono-regular.fntdata"/><Relationship Id="rId25" Type="http://schemas.openxmlformats.org/officeDocument/2006/relationships/font" Target="fonts/DMSans-boldItalic.fntdata"/><Relationship Id="rId28" Type="http://customschemas.google.com/relationships/presentationmetadata" Target="metadata"/><Relationship Id="rId27" Type="http://schemas.openxmlformats.org/officeDocument/2006/relationships/font" Target="fonts/DMMon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Roboto-bold.fntdata"/><Relationship Id="rId14" Type="http://schemas.openxmlformats.org/officeDocument/2006/relationships/font" Target="fonts/Roboto-regular.fntdata"/><Relationship Id="rId17" Type="http://schemas.openxmlformats.org/officeDocument/2006/relationships/font" Target="fonts/Roboto-boldItalic.fntdata"/><Relationship Id="rId16" Type="http://schemas.openxmlformats.org/officeDocument/2006/relationships/font" Target="fonts/Roboto-italic.fntdata"/><Relationship Id="rId19" Type="http://schemas.openxmlformats.org/officeDocument/2006/relationships/font" Target="fonts/DMSansLight-bold.fntdata"/><Relationship Id="rId18" Type="http://schemas.openxmlformats.org/officeDocument/2006/relationships/font" Target="fonts/DMSansLigh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 name="Google Shape;43;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 name="Google Shape;49;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 name="Google Shape;57;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 name="Google Shape;66;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 name="Google Shape;72;p1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 name="Google Shape;78;p1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e4b3e1e7cb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 name="Google Shape;84;g3e4b3e1e7c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TITLE_2">
    <p:bg>
      <p:bgPr>
        <a:solidFill>
          <a:srgbClr val="292929"/>
        </a:solidFill>
      </p:bgPr>
    </p:bg>
    <p:spTree>
      <p:nvGrpSpPr>
        <p:cNvPr id="9" name="Shape 9"/>
        <p:cNvGrpSpPr/>
        <p:nvPr/>
      </p:nvGrpSpPr>
      <p:grpSpPr>
        <a:xfrm>
          <a:off x="0" y="0"/>
          <a:ext cx="0" cy="0"/>
          <a:chOff x="0" y="0"/>
          <a:chExt cx="0" cy="0"/>
        </a:xfrm>
      </p:grpSpPr>
      <p:sp>
        <p:nvSpPr>
          <p:cNvPr id="10" name="Google Shape;10;g3e4bc65dc50_0_45"/>
          <p:cNvSpPr txBox="1"/>
          <p:nvPr>
            <p:ph type="ctrTitle"/>
          </p:nvPr>
        </p:nvSpPr>
        <p:spPr>
          <a:xfrm>
            <a:off x="311704" y="1691650"/>
            <a:ext cx="4254900" cy="2052600"/>
          </a:xfrm>
          <a:prstGeom prst="rect">
            <a:avLst/>
          </a:prstGeom>
          <a:noFill/>
          <a:ln>
            <a:noFill/>
          </a:ln>
        </p:spPr>
        <p:txBody>
          <a:bodyPr anchorCtr="0" anchor="b" bIns="91425" lIns="91425" spcFirstLastPara="1" rIns="91425" wrap="square" tIns="91425">
            <a:noAutofit/>
          </a:bodyPr>
          <a:lstStyle>
            <a:lvl1pPr lvl="0" algn="l">
              <a:lnSpc>
                <a:spcPct val="95000"/>
              </a:lnSpc>
              <a:spcBef>
                <a:spcPts val="0"/>
              </a:spcBef>
              <a:spcAft>
                <a:spcPts val="0"/>
              </a:spcAft>
              <a:buClr>
                <a:schemeClr val="lt1"/>
              </a:buClr>
              <a:buSzPts val="5500"/>
              <a:buNone/>
              <a:defRPr sz="5500">
                <a:solidFill>
                  <a:schemeClr val="lt1"/>
                </a:solidFill>
              </a:defRPr>
            </a:lvl1pPr>
            <a:lvl2pPr lvl="1" algn="l">
              <a:lnSpc>
                <a:spcPct val="90000"/>
              </a:lnSpc>
              <a:spcBef>
                <a:spcPts val="0"/>
              </a:spcBef>
              <a:spcAft>
                <a:spcPts val="0"/>
              </a:spcAft>
              <a:buClr>
                <a:schemeClr val="lt1"/>
              </a:buClr>
              <a:buSzPts val="5200"/>
              <a:buNone/>
              <a:defRPr sz="5200">
                <a:solidFill>
                  <a:schemeClr val="lt1"/>
                </a:solidFill>
              </a:defRPr>
            </a:lvl2pPr>
            <a:lvl3pPr lvl="2" algn="l">
              <a:lnSpc>
                <a:spcPct val="90000"/>
              </a:lnSpc>
              <a:spcBef>
                <a:spcPts val="0"/>
              </a:spcBef>
              <a:spcAft>
                <a:spcPts val="0"/>
              </a:spcAft>
              <a:buClr>
                <a:schemeClr val="lt1"/>
              </a:buClr>
              <a:buSzPts val="5200"/>
              <a:buNone/>
              <a:defRPr sz="5200">
                <a:solidFill>
                  <a:schemeClr val="lt1"/>
                </a:solidFill>
              </a:defRPr>
            </a:lvl3pPr>
            <a:lvl4pPr lvl="3" algn="l">
              <a:lnSpc>
                <a:spcPct val="90000"/>
              </a:lnSpc>
              <a:spcBef>
                <a:spcPts val="0"/>
              </a:spcBef>
              <a:spcAft>
                <a:spcPts val="0"/>
              </a:spcAft>
              <a:buClr>
                <a:schemeClr val="lt1"/>
              </a:buClr>
              <a:buSzPts val="5200"/>
              <a:buNone/>
              <a:defRPr sz="5200">
                <a:solidFill>
                  <a:schemeClr val="lt1"/>
                </a:solidFill>
              </a:defRPr>
            </a:lvl4pPr>
            <a:lvl5pPr lvl="4" algn="l">
              <a:lnSpc>
                <a:spcPct val="90000"/>
              </a:lnSpc>
              <a:spcBef>
                <a:spcPts val="0"/>
              </a:spcBef>
              <a:spcAft>
                <a:spcPts val="0"/>
              </a:spcAft>
              <a:buClr>
                <a:schemeClr val="lt1"/>
              </a:buClr>
              <a:buSzPts val="5200"/>
              <a:buNone/>
              <a:defRPr sz="5200">
                <a:solidFill>
                  <a:schemeClr val="lt1"/>
                </a:solidFill>
              </a:defRPr>
            </a:lvl5pPr>
            <a:lvl6pPr lvl="5" algn="l">
              <a:lnSpc>
                <a:spcPct val="90000"/>
              </a:lnSpc>
              <a:spcBef>
                <a:spcPts val="0"/>
              </a:spcBef>
              <a:spcAft>
                <a:spcPts val="0"/>
              </a:spcAft>
              <a:buClr>
                <a:schemeClr val="lt1"/>
              </a:buClr>
              <a:buSzPts val="5200"/>
              <a:buNone/>
              <a:defRPr sz="5200">
                <a:solidFill>
                  <a:schemeClr val="lt1"/>
                </a:solidFill>
              </a:defRPr>
            </a:lvl6pPr>
            <a:lvl7pPr lvl="6" algn="l">
              <a:lnSpc>
                <a:spcPct val="90000"/>
              </a:lnSpc>
              <a:spcBef>
                <a:spcPts val="0"/>
              </a:spcBef>
              <a:spcAft>
                <a:spcPts val="0"/>
              </a:spcAft>
              <a:buClr>
                <a:schemeClr val="lt1"/>
              </a:buClr>
              <a:buSzPts val="5200"/>
              <a:buNone/>
              <a:defRPr sz="5200">
                <a:solidFill>
                  <a:schemeClr val="lt1"/>
                </a:solidFill>
              </a:defRPr>
            </a:lvl7pPr>
            <a:lvl8pPr lvl="7" algn="l">
              <a:lnSpc>
                <a:spcPct val="90000"/>
              </a:lnSpc>
              <a:spcBef>
                <a:spcPts val="0"/>
              </a:spcBef>
              <a:spcAft>
                <a:spcPts val="0"/>
              </a:spcAft>
              <a:buClr>
                <a:schemeClr val="lt1"/>
              </a:buClr>
              <a:buSzPts val="5200"/>
              <a:buNone/>
              <a:defRPr sz="5200">
                <a:solidFill>
                  <a:schemeClr val="lt1"/>
                </a:solidFill>
              </a:defRPr>
            </a:lvl8pPr>
            <a:lvl9pPr lvl="8" algn="l">
              <a:lnSpc>
                <a:spcPct val="90000"/>
              </a:lnSpc>
              <a:spcBef>
                <a:spcPts val="0"/>
              </a:spcBef>
              <a:spcAft>
                <a:spcPts val="0"/>
              </a:spcAft>
              <a:buClr>
                <a:schemeClr val="lt1"/>
              </a:buClr>
              <a:buSzPts val="5200"/>
              <a:buNone/>
              <a:defRPr sz="5200">
                <a:solidFill>
                  <a:schemeClr val="lt1"/>
                </a:solidFill>
              </a:defRPr>
            </a:lvl9pPr>
          </a:lstStyle>
          <a:p/>
        </p:txBody>
      </p:sp>
      <p:sp>
        <p:nvSpPr>
          <p:cNvPr id="11" name="Google Shape;11;g3e4bc65dc50_0_45"/>
          <p:cNvSpPr txBox="1"/>
          <p:nvPr>
            <p:ph idx="1" type="subTitle"/>
          </p:nvPr>
        </p:nvSpPr>
        <p:spPr>
          <a:xfrm>
            <a:off x="311700" y="3794760"/>
            <a:ext cx="85206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1pPr>
            <a:lvl2pPr lvl="1" algn="l">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2pPr>
            <a:lvl3pPr lvl="2" algn="l">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3pPr>
            <a:lvl4pPr lvl="3" algn="l">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4pPr>
            <a:lvl5pPr lvl="4" algn="l">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5pPr>
            <a:lvl6pPr lvl="5" algn="l">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6pPr>
            <a:lvl7pPr lvl="6" algn="l">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7pPr>
            <a:lvl8pPr lvl="7" algn="l">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8pPr>
            <a:lvl9pPr lvl="8" algn="l">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9pPr>
          </a:lstStyle>
          <a:p/>
        </p:txBody>
      </p:sp>
      <p:pic>
        <p:nvPicPr>
          <p:cNvPr id="12" name="Google Shape;12;g3e4bc65dc50_0_45"/>
          <p:cNvPicPr preferRelativeResize="0"/>
          <p:nvPr/>
        </p:nvPicPr>
        <p:blipFill rotWithShape="1">
          <a:blip r:embed="rId2">
            <a:alphaModFix/>
          </a:blip>
          <a:srcRect b="4538" l="0" r="15132" t="4710"/>
          <a:stretch/>
        </p:blipFill>
        <p:spPr>
          <a:xfrm>
            <a:off x="3547625" y="0"/>
            <a:ext cx="5596375" cy="514350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
  <p:cSld name="TITLE_AND_BODY_1">
    <p:spTree>
      <p:nvGrpSpPr>
        <p:cNvPr id="13" name="Shape 13"/>
        <p:cNvGrpSpPr/>
        <p:nvPr/>
      </p:nvGrpSpPr>
      <p:grpSpPr>
        <a:xfrm>
          <a:off x="0" y="0"/>
          <a:ext cx="0" cy="0"/>
          <a:chOff x="0" y="0"/>
          <a:chExt cx="0" cy="0"/>
        </a:xfrm>
      </p:grpSpPr>
      <p:sp>
        <p:nvSpPr>
          <p:cNvPr id="14" name="Google Shape;14;g3e4bc65dc50_0_52"/>
          <p:cNvSpPr/>
          <p:nvPr>
            <p:ph idx="2" type="pic"/>
          </p:nvPr>
        </p:nvSpPr>
        <p:spPr>
          <a:xfrm>
            <a:off x="4413400" y="610975"/>
            <a:ext cx="4602900" cy="4324500"/>
          </a:xfrm>
          <a:prstGeom prst="rect">
            <a:avLst/>
          </a:prstGeom>
          <a:solidFill>
            <a:srgbClr val="F8F8F8"/>
          </a:solidFill>
          <a:ln>
            <a:noFill/>
          </a:ln>
        </p:spPr>
      </p:sp>
      <p:sp>
        <p:nvSpPr>
          <p:cNvPr id="15" name="Google Shape;15;g3e4bc65dc50_0_52"/>
          <p:cNvSpPr txBox="1"/>
          <p:nvPr>
            <p:ph type="title"/>
          </p:nvPr>
        </p:nvSpPr>
        <p:spPr>
          <a:xfrm>
            <a:off x="417625" y="88900"/>
            <a:ext cx="6028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6" name="Google Shape;16;g3e4bc65dc50_0_52"/>
          <p:cNvSpPr txBox="1"/>
          <p:nvPr>
            <p:ph idx="1" type="body"/>
          </p:nvPr>
        </p:nvSpPr>
        <p:spPr>
          <a:xfrm>
            <a:off x="42975" y="658076"/>
            <a:ext cx="4154400" cy="3863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pic>
        <p:nvPicPr>
          <p:cNvPr id="17" name="Google Shape;17;g3e4bc65dc50_0_52"/>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pic>
        <p:nvPicPr>
          <p:cNvPr id="18" name="Google Shape;18;g3e4bc65dc50_0_52"/>
          <p:cNvPicPr preferRelativeResize="0"/>
          <p:nvPr/>
        </p:nvPicPr>
        <p:blipFill rotWithShape="1">
          <a:blip r:embed="rId3">
            <a:alphaModFix/>
          </a:blip>
          <a:srcRect b="0" l="0" r="0" t="0"/>
          <a:stretch/>
        </p:blipFill>
        <p:spPr>
          <a:xfrm rot="-6060000">
            <a:off x="42975" y="-20245"/>
            <a:ext cx="498425" cy="498425"/>
          </a:xfrm>
          <a:prstGeom prst="rect">
            <a:avLst/>
          </a:prstGeom>
          <a:noFill/>
          <a:ln>
            <a:noFill/>
          </a:ln>
        </p:spPr>
      </p:pic>
      <p:sp>
        <p:nvSpPr>
          <p:cNvPr id="19" name="Google Shape;19;g3e4bc65dc50_0_52"/>
          <p:cNvSpPr txBox="1"/>
          <p:nvPr/>
        </p:nvSpPr>
        <p:spPr>
          <a:xfrm>
            <a:off x="8365149" y="-1524"/>
            <a:ext cx="780300" cy="374100"/>
          </a:xfrm>
          <a:prstGeom prst="rect">
            <a:avLst/>
          </a:prstGeom>
          <a:solidFill>
            <a:srgbClr val="00FF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400" u="none" cap="none" strike="noStrike">
                <a:solidFill>
                  <a:srgbClr val="292929"/>
                </a:solidFill>
                <a:latin typeface="DM Sans"/>
                <a:ea typeface="DM Sans"/>
                <a:cs typeface="DM Sans"/>
                <a:sym typeface="DM Sans"/>
              </a:rPr>
              <a:t>GA</a:t>
            </a:r>
            <a:endParaRPr b="0" i="0" sz="1400" u="none" cap="none" strike="noStrike">
              <a:solidFill>
                <a:srgbClr val="292929"/>
              </a:solidFill>
              <a:latin typeface="DM Sans"/>
              <a:ea typeface="DM Sans"/>
              <a:cs typeface="DM Sans"/>
              <a:sym typeface="DM Sans"/>
            </a:endParaRPr>
          </a:p>
        </p:txBody>
      </p:sp>
    </p:spTree>
  </p:cSld>
  <p:clrMapOvr>
    <a:masterClrMapping/>
  </p:clrMapOvr>
  <p:extLst>
    <p:ext uri="{DCECCB84-F9BA-43D5-87BE-67443E8EF086}">
      <p15:sldGuideLst>
        <p15:guide id="1" orient="horz" pos="2808">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ta">
  <p:cSld name="TITLE_AND_BODY_2">
    <p:spTree>
      <p:nvGrpSpPr>
        <p:cNvPr id="20" name="Shape 20"/>
        <p:cNvGrpSpPr/>
        <p:nvPr/>
      </p:nvGrpSpPr>
      <p:grpSpPr>
        <a:xfrm>
          <a:off x="0" y="0"/>
          <a:ext cx="0" cy="0"/>
          <a:chOff x="0" y="0"/>
          <a:chExt cx="0" cy="0"/>
        </a:xfrm>
      </p:grpSpPr>
      <p:sp>
        <p:nvSpPr>
          <p:cNvPr id="21" name="Google Shape;21;g3e4bc65dc50_0_59"/>
          <p:cNvSpPr/>
          <p:nvPr>
            <p:ph idx="2" type="pic"/>
          </p:nvPr>
        </p:nvSpPr>
        <p:spPr>
          <a:xfrm>
            <a:off x="4413400" y="610975"/>
            <a:ext cx="4602900" cy="4324500"/>
          </a:xfrm>
          <a:prstGeom prst="rect">
            <a:avLst/>
          </a:prstGeom>
          <a:solidFill>
            <a:srgbClr val="F8F8F8"/>
          </a:solidFill>
          <a:ln>
            <a:noFill/>
          </a:ln>
        </p:spPr>
      </p:sp>
      <p:sp>
        <p:nvSpPr>
          <p:cNvPr id="22" name="Google Shape;22;g3e4bc65dc50_0_59"/>
          <p:cNvSpPr txBox="1"/>
          <p:nvPr>
            <p:ph type="title"/>
          </p:nvPr>
        </p:nvSpPr>
        <p:spPr>
          <a:xfrm>
            <a:off x="417625" y="88900"/>
            <a:ext cx="6028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23" name="Google Shape;23;g3e4bc65dc50_0_59"/>
          <p:cNvSpPr txBox="1"/>
          <p:nvPr>
            <p:ph idx="1" type="body"/>
          </p:nvPr>
        </p:nvSpPr>
        <p:spPr>
          <a:xfrm>
            <a:off x="42975" y="658076"/>
            <a:ext cx="4154400" cy="3863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pic>
        <p:nvPicPr>
          <p:cNvPr id="24" name="Google Shape;24;g3e4bc65dc50_0_59"/>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pic>
        <p:nvPicPr>
          <p:cNvPr id="25" name="Google Shape;25;g3e4bc65dc50_0_59"/>
          <p:cNvPicPr preferRelativeResize="0"/>
          <p:nvPr/>
        </p:nvPicPr>
        <p:blipFill rotWithShape="1">
          <a:blip r:embed="rId3">
            <a:alphaModFix/>
          </a:blip>
          <a:srcRect b="0" l="0" r="0" t="0"/>
          <a:stretch/>
        </p:blipFill>
        <p:spPr>
          <a:xfrm rot="-6060000">
            <a:off x="42975" y="-20245"/>
            <a:ext cx="498425" cy="498425"/>
          </a:xfrm>
          <a:prstGeom prst="rect">
            <a:avLst/>
          </a:prstGeom>
          <a:noFill/>
          <a:ln>
            <a:noFill/>
          </a:ln>
        </p:spPr>
      </p:pic>
      <p:sp>
        <p:nvSpPr>
          <p:cNvPr id="26" name="Google Shape;26;g3e4bc65dc50_0_59"/>
          <p:cNvSpPr txBox="1"/>
          <p:nvPr/>
        </p:nvSpPr>
        <p:spPr>
          <a:xfrm>
            <a:off x="8365149" y="-1524"/>
            <a:ext cx="780300" cy="374100"/>
          </a:xfrm>
          <a:prstGeom prst="rect">
            <a:avLst/>
          </a:prstGeom>
          <a:solidFill>
            <a:srgbClr val="FFFF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400" u="none" cap="none" strike="noStrike">
                <a:solidFill>
                  <a:srgbClr val="292929"/>
                </a:solidFill>
                <a:latin typeface="DM Sans"/>
                <a:ea typeface="DM Sans"/>
                <a:cs typeface="DM Sans"/>
                <a:sym typeface="DM Sans"/>
              </a:rPr>
              <a:t>BETA</a:t>
            </a:r>
            <a:endParaRPr b="0" i="0" sz="1400" u="none" cap="none" strike="noStrike">
              <a:solidFill>
                <a:srgbClr val="292929"/>
              </a:solidFill>
              <a:latin typeface="DM Sans"/>
              <a:ea typeface="DM Sans"/>
              <a:cs typeface="DM Sans"/>
              <a:sym typeface="DM Sans"/>
            </a:endParaRPr>
          </a:p>
        </p:txBody>
      </p:sp>
    </p:spTree>
  </p:cSld>
  <p:clrMapOvr>
    <a:masterClrMapping/>
  </p:clrMapOvr>
  <p:extLst>
    <p:ext uri="{DCECCB84-F9BA-43D5-87BE-67443E8EF086}">
      <p15:sldGuideLst>
        <p15:guide id="1" orient="horz" pos="2808">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ick Hits">
  <p:cSld name="TITLE_AND_BODY_2_1">
    <p:spTree>
      <p:nvGrpSpPr>
        <p:cNvPr id="27" name="Shape 27"/>
        <p:cNvGrpSpPr/>
        <p:nvPr/>
      </p:nvGrpSpPr>
      <p:grpSpPr>
        <a:xfrm>
          <a:off x="0" y="0"/>
          <a:ext cx="0" cy="0"/>
          <a:chOff x="0" y="0"/>
          <a:chExt cx="0" cy="0"/>
        </a:xfrm>
      </p:grpSpPr>
      <p:sp>
        <p:nvSpPr>
          <p:cNvPr id="28" name="Google Shape;28;g3e4bc65dc50_0_66"/>
          <p:cNvSpPr txBox="1"/>
          <p:nvPr>
            <p:ph type="title"/>
          </p:nvPr>
        </p:nvSpPr>
        <p:spPr>
          <a:xfrm>
            <a:off x="116550" y="85375"/>
            <a:ext cx="6028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pic>
        <p:nvPicPr>
          <p:cNvPr id="29" name="Google Shape;29;g3e4bc65dc50_0_66"/>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
        <p:nvSpPr>
          <p:cNvPr id="30" name="Google Shape;30;g3e4bc65dc50_0_66"/>
          <p:cNvSpPr txBox="1"/>
          <p:nvPr/>
        </p:nvSpPr>
        <p:spPr>
          <a:xfrm>
            <a:off x="7716051" y="-1525"/>
            <a:ext cx="1429500" cy="374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400" u="none" cap="none" strike="noStrike">
                <a:solidFill>
                  <a:schemeClr val="lt1"/>
                </a:solidFill>
                <a:latin typeface="DM Sans"/>
                <a:ea typeface="DM Sans"/>
                <a:cs typeface="DM Sans"/>
                <a:sym typeface="DM Sans"/>
              </a:rPr>
              <a:t>QUICK HITS</a:t>
            </a:r>
            <a:endParaRPr b="1" i="0" sz="1400" u="none" cap="none" strike="noStrike">
              <a:solidFill>
                <a:schemeClr val="lt1"/>
              </a:solidFill>
              <a:latin typeface="DM Sans"/>
              <a:ea typeface="DM Sans"/>
              <a:cs typeface="DM Sans"/>
              <a:sym typeface="DM Sans"/>
            </a:endParaRPr>
          </a:p>
        </p:txBody>
      </p:sp>
      <p:sp>
        <p:nvSpPr>
          <p:cNvPr id="31" name="Google Shape;31;g3e4bc65dc50_0_66"/>
          <p:cNvSpPr txBox="1"/>
          <p:nvPr/>
        </p:nvSpPr>
        <p:spPr>
          <a:xfrm>
            <a:off x="154825" y="627950"/>
            <a:ext cx="8911800" cy="401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292929"/>
              </a:solidFill>
              <a:latin typeface="DM Sans"/>
              <a:ea typeface="DM Sans"/>
              <a:cs typeface="DM Sans"/>
              <a:sym typeface="DM Sans"/>
            </a:endParaRPr>
          </a:p>
        </p:txBody>
      </p:sp>
    </p:spTree>
  </p:cSld>
  <p:clrMapOvr>
    <a:masterClrMapping/>
  </p:clrMapOvr>
  <p:extLst>
    <p:ext uri="{DCECCB84-F9BA-43D5-87BE-67443E8EF086}">
      <p15:sldGuideLst>
        <p15:guide id="1" orient="horz" pos="2808">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g Fixes">
  <p:cSld name="TITLE_AND_BODY_3">
    <p:spTree>
      <p:nvGrpSpPr>
        <p:cNvPr id="32" name="Shape 32"/>
        <p:cNvGrpSpPr/>
        <p:nvPr/>
      </p:nvGrpSpPr>
      <p:grpSpPr>
        <a:xfrm>
          <a:off x="0" y="0"/>
          <a:ext cx="0" cy="0"/>
          <a:chOff x="0" y="0"/>
          <a:chExt cx="0" cy="0"/>
        </a:xfrm>
      </p:grpSpPr>
      <p:sp>
        <p:nvSpPr>
          <p:cNvPr id="33" name="Google Shape;33;g3e4bc65dc50_0_71"/>
          <p:cNvSpPr/>
          <p:nvPr>
            <p:ph idx="2" type="pic"/>
          </p:nvPr>
        </p:nvSpPr>
        <p:spPr>
          <a:xfrm>
            <a:off x="4413400" y="610975"/>
            <a:ext cx="4602900" cy="4324500"/>
          </a:xfrm>
          <a:prstGeom prst="rect">
            <a:avLst/>
          </a:prstGeom>
          <a:solidFill>
            <a:srgbClr val="F8F8F8"/>
          </a:solidFill>
          <a:ln>
            <a:noFill/>
          </a:ln>
        </p:spPr>
      </p:sp>
      <p:sp>
        <p:nvSpPr>
          <p:cNvPr id="34" name="Google Shape;34;g3e4bc65dc50_0_71"/>
          <p:cNvSpPr txBox="1"/>
          <p:nvPr>
            <p:ph type="title"/>
          </p:nvPr>
        </p:nvSpPr>
        <p:spPr>
          <a:xfrm>
            <a:off x="150975" y="85375"/>
            <a:ext cx="60288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5" name="Google Shape;35;g3e4bc65dc50_0_71"/>
          <p:cNvSpPr txBox="1"/>
          <p:nvPr>
            <p:ph idx="1" type="body"/>
          </p:nvPr>
        </p:nvSpPr>
        <p:spPr>
          <a:xfrm>
            <a:off x="42975" y="658076"/>
            <a:ext cx="4154400" cy="3863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pic>
        <p:nvPicPr>
          <p:cNvPr id="36" name="Google Shape;36;g3e4bc65dc50_0_71"/>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extLst>
    <p:ext uri="{DCECCB84-F9BA-43D5-87BE-67443E8EF086}">
      <p15:sldGuideLst>
        <p15:guide id="1" orient="horz" pos="2808">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ources">
  <p:cSld name="BLANK_1_1">
    <p:bg>
      <p:bgPr>
        <a:solidFill>
          <a:srgbClr val="292929"/>
        </a:solidFill>
      </p:bgPr>
    </p:bg>
    <p:spTree>
      <p:nvGrpSpPr>
        <p:cNvPr id="37" name="Shape 37"/>
        <p:cNvGrpSpPr/>
        <p:nvPr/>
      </p:nvGrpSpPr>
      <p:grpSpPr>
        <a:xfrm>
          <a:off x="0" y="0"/>
          <a:ext cx="0" cy="0"/>
          <a:chOff x="0" y="0"/>
          <a:chExt cx="0" cy="0"/>
        </a:xfrm>
      </p:grpSpPr>
      <p:sp>
        <p:nvSpPr>
          <p:cNvPr id="38" name="Google Shape;38;g3e4bc65dc50_0_7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pic>
        <p:nvPicPr>
          <p:cNvPr id="39" name="Google Shape;39;g3e4bc65dc50_0_76"/>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pic>
        <p:nvPicPr>
          <p:cNvPr id="40" name="Google Shape;40;g3e4bc65dc50_0_76"/>
          <p:cNvPicPr preferRelativeResize="0"/>
          <p:nvPr/>
        </p:nvPicPr>
        <p:blipFill rotWithShape="1">
          <a:blip r:embed="rId3">
            <a:alphaModFix/>
          </a:blip>
          <a:srcRect b="0" l="0" r="0" t="0"/>
          <a:stretch/>
        </p:blipFill>
        <p:spPr>
          <a:xfrm>
            <a:off x="5546100" y="8"/>
            <a:ext cx="3597900" cy="35979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e4bc65dc50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g3e4bc65dc50_0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g3e4bc65dc50_0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help.sigmacomputing.com/docs/install-skills-for-ai-assistants" TargetMode="External"/><Relationship Id="rId4" Type="http://schemas.openxmlformats.org/officeDocument/2006/relationships/hyperlink" Target="https://quickstarts.sigmacomputing.com/guide/developers_sigma_skill/index.html?index=..%2F..index#0" TargetMode="External"/><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hyperlink" Target="https://help.sigmacomputing.com/docs/sigmas-sample-connec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hyperlink" Target="https://quickstarts.sigmacomputing.com/guide/developers_sigma_skill/index.html?index=..%2F..index#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hyperlink" Target="https://twitter.com/sigmacomputing" TargetMode="External"/><Relationship Id="rId4" Type="http://schemas.openxmlformats.org/officeDocument/2006/relationships/image" Target="../media/image6.png"/><Relationship Id="rId11" Type="http://schemas.openxmlformats.org/officeDocument/2006/relationships/hyperlink" Target="https://help.sigmacomputing.com/hc/en-us" TargetMode="External"/><Relationship Id="rId10" Type="http://schemas.openxmlformats.org/officeDocument/2006/relationships/hyperlink" Target="https://community.sigmacomputing.com/" TargetMode="External"/><Relationship Id="rId12" Type="http://schemas.openxmlformats.org/officeDocument/2006/relationships/hyperlink" Target="https://quickstarts.sigmacomputing.com/" TargetMode="External"/><Relationship Id="rId9" Type="http://schemas.openxmlformats.org/officeDocument/2006/relationships/hyperlink" Target="https://www.sigmacomputing.com/blog/" TargetMode="External"/><Relationship Id="rId5" Type="http://schemas.openxmlformats.org/officeDocument/2006/relationships/hyperlink" Target="https://www.facebook.com/sigmacomputing" TargetMode="External"/><Relationship Id="rId6" Type="http://schemas.openxmlformats.org/officeDocument/2006/relationships/image" Target="../media/image4.png"/><Relationship Id="rId7" Type="http://schemas.openxmlformats.org/officeDocument/2006/relationships/hyperlink" Target="https://www.linkedin.com/company/sigmacomputing" TargetMode="External"/><Relationship Id="rId8"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3"/>
          <p:cNvSpPr txBox="1"/>
          <p:nvPr>
            <p:ph type="ctrTitle"/>
          </p:nvPr>
        </p:nvSpPr>
        <p:spPr>
          <a:xfrm>
            <a:off x="198575" y="168625"/>
            <a:ext cx="6659400" cy="25815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100"/>
              <a:buFont typeface="Arial"/>
              <a:buNone/>
            </a:pPr>
            <a:r>
              <a:rPr lang="en"/>
              <a:t>Sigma</a:t>
            </a:r>
            <a:br>
              <a:rPr lang="en"/>
            </a:br>
            <a:r>
              <a:rPr lang="en"/>
              <a:t>First Friday Features</a:t>
            </a:r>
            <a:endParaRPr/>
          </a:p>
          <a:p>
            <a:pPr indent="0" lvl="0" marL="0" rtl="0" algn="l">
              <a:lnSpc>
                <a:spcPct val="95000"/>
              </a:lnSpc>
              <a:spcBef>
                <a:spcPts val="0"/>
              </a:spcBef>
              <a:spcAft>
                <a:spcPts val="0"/>
              </a:spcAft>
              <a:buSzPts val="5500"/>
              <a:buNone/>
            </a:pPr>
            <a:r>
              <a:t/>
            </a:r>
            <a:endParaRPr/>
          </a:p>
        </p:txBody>
      </p:sp>
      <p:sp>
        <p:nvSpPr>
          <p:cNvPr id="46" name="Google Shape;46;p3"/>
          <p:cNvSpPr txBox="1"/>
          <p:nvPr>
            <p:ph idx="1" type="subTitle"/>
          </p:nvPr>
        </p:nvSpPr>
        <p:spPr>
          <a:xfrm>
            <a:off x="198575" y="1957535"/>
            <a:ext cx="8520600" cy="792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{Monthname}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graphicFrame>
        <p:nvGraphicFramePr>
          <p:cNvPr id="51" name="Google Shape;51;p4"/>
          <p:cNvGraphicFramePr/>
          <p:nvPr/>
        </p:nvGraphicFramePr>
        <p:xfrm>
          <a:off x="436558" y="1147350"/>
          <a:ext cx="3000000" cy="3000000"/>
        </p:xfrm>
        <a:graphic>
          <a:graphicData uri="http://schemas.openxmlformats.org/drawingml/2006/table">
            <a:tbl>
              <a:tblPr>
                <a:noFill/>
                <a:tableStyleId>{9270D2BA-9617-4BF3-B3EC-A2AA27411165}</a:tableStyleId>
              </a:tblPr>
              <a:tblGrid>
                <a:gridCol w="3791725"/>
              </a:tblGrid>
              <a:tr h="5508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1"/>
                          </a:solidFill>
                          <a:latin typeface="DM Sans Light"/>
                          <a:ea typeface="DM Sans Light"/>
                          <a:cs typeface="DM Sans Light"/>
                          <a:sym typeface="DM Sans Light"/>
                        </a:rPr>
                        <a:t>Spotlight Features</a:t>
                      </a:r>
                      <a:endParaRPr sz="1400" u="none" cap="none" strike="noStrike">
                        <a:solidFill>
                          <a:schemeClr val="lt1"/>
                        </a:solidFill>
                        <a:latin typeface="DM Sans Light"/>
                        <a:ea typeface="DM Sans Light"/>
                        <a:cs typeface="DM Sans Light"/>
                        <a:sym typeface="DM Sans Light"/>
                      </a:endParaRPr>
                    </a:p>
                  </a:txBody>
                  <a:tcPr marT="91425" marB="91425" marR="91425"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FA8A7"/>
                      </a:solidFill>
                      <a:prstDash val="solid"/>
                      <a:round/>
                      <a:headEnd len="sm" w="sm" type="none"/>
                      <a:tailEnd len="sm" w="sm" type="none"/>
                    </a:lnB>
                    <a:solidFill>
                      <a:srgbClr val="292929"/>
                    </a:solidFill>
                  </a:tcPr>
                </a:tc>
              </a:tr>
              <a:tr h="5508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1"/>
                          </a:solidFill>
                          <a:latin typeface="DM Sans Light"/>
                          <a:ea typeface="DM Sans Light"/>
                          <a:cs typeface="DM Sans Light"/>
                          <a:sym typeface="DM Sans Light"/>
                        </a:rPr>
                        <a:t>Quick-Hits by Feature Category</a:t>
                      </a:r>
                      <a:endParaRPr sz="1400" u="none" cap="none" strike="noStrike">
                        <a:solidFill>
                          <a:srgbClr val="F0FF45"/>
                        </a:solidFill>
                      </a:endParaRPr>
                    </a:p>
                  </a:txBody>
                  <a:tcPr marT="91425" marB="91425" marR="91425"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FA8A7"/>
                      </a:solidFill>
                      <a:prstDash val="solid"/>
                      <a:round/>
                      <a:headEnd len="sm" w="sm" type="none"/>
                      <a:tailEnd len="sm" w="sm" type="none"/>
                    </a:lnT>
                    <a:lnB cap="flat" cmpd="sng" w="9525">
                      <a:solidFill>
                        <a:srgbClr val="9FA8A7"/>
                      </a:solidFill>
                      <a:prstDash val="solid"/>
                      <a:round/>
                      <a:headEnd len="sm" w="sm" type="none"/>
                      <a:tailEnd len="sm" w="sm" type="none"/>
                    </a:lnB>
                    <a:solidFill>
                      <a:srgbClr val="292929"/>
                    </a:solidFill>
                  </a:tcPr>
                </a:tc>
              </a:tr>
              <a:tr h="5508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1"/>
                          </a:solidFill>
                          <a:latin typeface="DM Sans Light"/>
                          <a:ea typeface="DM Sans Light"/>
                          <a:cs typeface="DM Sans Light"/>
                          <a:sym typeface="DM Sans Light"/>
                        </a:rPr>
                        <a:t>New QuickStarts</a:t>
                      </a:r>
                      <a:endParaRPr sz="1400" u="none" cap="none" strike="noStrike">
                        <a:solidFill>
                          <a:schemeClr val="lt1"/>
                        </a:solidFill>
                      </a:endParaRPr>
                    </a:p>
                  </a:txBody>
                  <a:tcPr marT="91425" marB="91425" marR="91425"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FA8A7"/>
                      </a:solidFill>
                      <a:prstDash val="solid"/>
                      <a:round/>
                      <a:headEnd len="sm" w="sm" type="none"/>
                      <a:tailEnd len="sm" w="sm" type="none"/>
                    </a:lnT>
                    <a:lnB cap="flat" cmpd="sng" w="9525">
                      <a:solidFill>
                        <a:srgbClr val="9FA8A7"/>
                      </a:solidFill>
                      <a:prstDash val="solid"/>
                      <a:round/>
                      <a:headEnd len="sm" w="sm" type="none"/>
                      <a:tailEnd len="sm" w="sm" type="none"/>
                    </a:lnB>
                    <a:solidFill>
                      <a:srgbClr val="292929"/>
                    </a:solidFill>
                  </a:tcPr>
                </a:tc>
              </a:tr>
              <a:tr h="5508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1"/>
                          </a:solidFill>
                          <a:latin typeface="DM Sans Light"/>
                          <a:ea typeface="DM Sans Light"/>
                          <a:cs typeface="DM Sans Light"/>
                          <a:sym typeface="DM Sans Light"/>
                        </a:rPr>
                        <a:t>Additional Resources</a:t>
                      </a:r>
                      <a:endParaRPr sz="1400" u="none" cap="none" strike="noStrike">
                        <a:solidFill>
                          <a:schemeClr val="lt1"/>
                        </a:solidFill>
                      </a:endParaRPr>
                    </a:p>
                  </a:txBody>
                  <a:tcPr marT="91425" marB="91425" marR="91425"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FA8A7"/>
                      </a:solidFill>
                      <a:prstDash val="solid"/>
                      <a:round/>
                      <a:headEnd len="sm" w="sm" type="none"/>
                      <a:tailEnd len="sm" w="sm" type="none"/>
                    </a:lnT>
                    <a:lnB cap="flat" cmpd="sng" w="9525">
                      <a:solidFill>
                        <a:srgbClr val="9FA8A7"/>
                      </a:solidFill>
                      <a:prstDash val="solid"/>
                      <a:round/>
                      <a:headEnd len="sm" w="sm" type="none"/>
                      <a:tailEnd len="sm" w="sm" type="none"/>
                    </a:lnB>
                    <a:solidFill>
                      <a:srgbClr val="292929"/>
                    </a:solidFill>
                  </a:tcPr>
                </a:tc>
              </a:tr>
            </a:tbl>
          </a:graphicData>
        </a:graphic>
      </p:graphicFrame>
      <p:pic>
        <p:nvPicPr>
          <p:cNvPr id="52" name="Google Shape;52;p4"/>
          <p:cNvPicPr preferRelativeResize="0"/>
          <p:nvPr/>
        </p:nvPicPr>
        <p:blipFill rotWithShape="1">
          <a:blip r:embed="rId3">
            <a:alphaModFix/>
          </a:blip>
          <a:srcRect b="0" l="0" r="0" t="0"/>
          <a:stretch/>
        </p:blipFill>
        <p:spPr>
          <a:xfrm>
            <a:off x="5546100" y="8"/>
            <a:ext cx="3597900" cy="3597900"/>
          </a:xfrm>
          <a:prstGeom prst="rect">
            <a:avLst/>
          </a:prstGeom>
          <a:noFill/>
          <a:ln>
            <a:noFill/>
          </a:ln>
        </p:spPr>
      </p:pic>
      <p:pic>
        <p:nvPicPr>
          <p:cNvPr id="53" name="Google Shape;53;p4"/>
          <p:cNvPicPr preferRelativeResize="0"/>
          <p:nvPr/>
        </p:nvPicPr>
        <p:blipFill rotWithShape="1">
          <a:blip r:embed="rId4">
            <a:alphaModFix/>
          </a:blip>
          <a:srcRect b="0" l="0" r="0" t="0"/>
          <a:stretch/>
        </p:blipFill>
        <p:spPr>
          <a:xfrm>
            <a:off x="1805050" y="994825"/>
            <a:ext cx="498425" cy="498425"/>
          </a:xfrm>
          <a:prstGeom prst="rect">
            <a:avLst/>
          </a:prstGeom>
          <a:noFill/>
          <a:ln>
            <a:noFill/>
          </a:ln>
        </p:spPr>
      </p:pic>
      <p:sp>
        <p:nvSpPr>
          <p:cNvPr id="54" name="Google Shape;54;p4"/>
          <p:cNvSpPr txBox="1"/>
          <p:nvPr>
            <p:ph idx="4294967295" type="title"/>
          </p:nvPr>
        </p:nvSpPr>
        <p:spPr>
          <a:xfrm>
            <a:off x="276025" y="2988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solidFill>
                  <a:schemeClr val="lt1"/>
                </a:solidFill>
              </a:rPr>
              <a:t>Contents</a:t>
            </a:r>
            <a:endParaRPr>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title"/>
          </p:nvPr>
        </p:nvSpPr>
        <p:spPr>
          <a:xfrm>
            <a:off x="417625" y="88900"/>
            <a:ext cx="6028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u="sng">
                <a:solidFill>
                  <a:schemeClr val="hlink"/>
                </a:solidFill>
                <a:hlinkClick r:id="rId3"/>
              </a:rPr>
              <a:t>Agent Skills for Sigma</a:t>
            </a:r>
            <a:endParaRPr>
              <a:highlight>
                <a:srgbClr val="4CEC8C"/>
              </a:highlight>
            </a:endParaRPr>
          </a:p>
        </p:txBody>
      </p:sp>
      <p:sp>
        <p:nvSpPr>
          <p:cNvPr id="60" name="Google Shape;60;p13"/>
          <p:cNvSpPr txBox="1"/>
          <p:nvPr>
            <p:ph idx="1" type="body"/>
          </p:nvPr>
        </p:nvSpPr>
        <p:spPr>
          <a:xfrm>
            <a:off x="42975" y="658076"/>
            <a:ext cx="4154400" cy="3863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200"/>
              <a:buNone/>
            </a:pPr>
            <a:r>
              <a:rPr lang="en"/>
              <a:t>An open-source multi-provider Github repository providing agent skills for Sigma.</a:t>
            </a:r>
            <a:endParaRPr/>
          </a:p>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rPr lang="en"/>
              <a:t>Install agent skills to enable AI assistants to authenticate to the Sigma REST API and create Sigma documents as code. Skills are available through the public skills repository.</a:t>
            </a:r>
            <a:endParaRPr/>
          </a:p>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rPr b="1" lang="en" u="sng"/>
              <a:t>Why it matters:</a:t>
            </a:r>
            <a:endParaRPr b="1" u="sng"/>
          </a:p>
          <a:p>
            <a:pPr indent="0" lvl="0" marL="0" rtl="0" algn="l">
              <a:lnSpc>
                <a:spcPct val="100000"/>
              </a:lnSpc>
              <a:spcBef>
                <a:spcPts val="0"/>
              </a:spcBef>
              <a:spcAft>
                <a:spcPts val="0"/>
              </a:spcAft>
              <a:buSzPts val="1200"/>
              <a:buNone/>
            </a:pPr>
            <a:r>
              <a:rPr lang="en"/>
              <a:t>This opens Sigma to AI-driven automation workflows — agents can authenticate and build Sigma content programmatically, extending what's possible for teams embedding AI assistants into their development and analytics pipelines.</a:t>
            </a:r>
            <a:endParaRPr/>
          </a:p>
        </p:txBody>
      </p:sp>
      <p:sp>
        <p:nvSpPr>
          <p:cNvPr id="61" name="Google Shape;61;p13"/>
          <p:cNvSpPr txBox="1"/>
          <p:nvPr/>
        </p:nvSpPr>
        <p:spPr>
          <a:xfrm>
            <a:off x="7632575" y="0"/>
            <a:ext cx="1511400" cy="374100"/>
          </a:xfrm>
          <a:prstGeom prst="rect">
            <a:avLst/>
          </a:prstGeom>
          <a:solidFill>
            <a:srgbClr val="4CEC8C"/>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292929"/>
                </a:solidFill>
                <a:latin typeface="DM Sans"/>
                <a:ea typeface="DM Sans"/>
                <a:cs typeface="DM Sans"/>
                <a:sym typeface="DM Sans"/>
              </a:rPr>
              <a:t>GA</a:t>
            </a:r>
            <a:endParaRPr b="0" i="0" sz="1200" u="none" cap="none" strike="noStrike">
              <a:solidFill>
                <a:srgbClr val="292929"/>
              </a:solidFill>
              <a:latin typeface="DM Sans"/>
              <a:ea typeface="DM Sans"/>
              <a:cs typeface="DM Sans"/>
              <a:sym typeface="DM Sans"/>
            </a:endParaRPr>
          </a:p>
        </p:txBody>
      </p:sp>
      <p:sp>
        <p:nvSpPr>
          <p:cNvPr id="62" name="Google Shape;62;p13"/>
          <p:cNvSpPr txBox="1"/>
          <p:nvPr/>
        </p:nvSpPr>
        <p:spPr>
          <a:xfrm>
            <a:off x="61275" y="3995375"/>
            <a:ext cx="4117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QuickStart: </a:t>
            </a:r>
            <a:r>
              <a:rPr b="0" i="0" lang="en" sz="1400" u="sng" cap="none" strike="noStrike">
                <a:solidFill>
                  <a:schemeClr val="hlink"/>
                </a:solidFill>
                <a:latin typeface="DM Sans"/>
                <a:ea typeface="DM Sans"/>
                <a:cs typeface="DM Sans"/>
                <a:sym typeface="DM Sans"/>
                <a:hlinkClick r:id="rId4"/>
              </a:rPr>
              <a:t>Sigma Skills for AI Assistants</a:t>
            </a:r>
            <a:endParaRPr b="0" i="0" sz="1400" u="none" cap="none" strike="noStrike">
              <a:solidFill>
                <a:srgbClr val="000000"/>
              </a:solidFill>
              <a:latin typeface="Arial"/>
              <a:ea typeface="Arial"/>
              <a:cs typeface="Arial"/>
              <a:sym typeface="Arial"/>
            </a:endParaRPr>
          </a:p>
        </p:txBody>
      </p:sp>
      <p:pic>
        <p:nvPicPr>
          <p:cNvPr id="63" name="Google Shape;63;p13"/>
          <p:cNvPicPr preferRelativeResize="0"/>
          <p:nvPr/>
        </p:nvPicPr>
        <p:blipFill rotWithShape="1">
          <a:blip r:embed="rId5">
            <a:alphaModFix/>
          </a:blip>
          <a:srcRect b="0" l="0" r="0" t="0"/>
          <a:stretch/>
        </p:blipFill>
        <p:spPr>
          <a:xfrm>
            <a:off x="4179075" y="714500"/>
            <a:ext cx="4866099" cy="212892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2"/>
          <p:cNvSpPr txBox="1"/>
          <p:nvPr>
            <p:ph type="title"/>
          </p:nvPr>
        </p:nvSpPr>
        <p:spPr>
          <a:xfrm>
            <a:off x="116550" y="85375"/>
            <a:ext cx="6028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Administration - Quick Hits</a:t>
            </a:r>
            <a:endParaRPr/>
          </a:p>
        </p:txBody>
      </p:sp>
      <p:sp>
        <p:nvSpPr>
          <p:cNvPr id="69" name="Google Shape;69;p12"/>
          <p:cNvSpPr txBox="1"/>
          <p:nvPr>
            <p:ph idx="4294967295" type="body"/>
          </p:nvPr>
        </p:nvSpPr>
        <p:spPr>
          <a:xfrm>
            <a:off x="116550" y="658075"/>
            <a:ext cx="8864100" cy="3987000"/>
          </a:xfrm>
          <a:prstGeom prst="rect">
            <a:avLst/>
          </a:prstGeom>
          <a:noFill/>
          <a:ln>
            <a:noFill/>
          </a:ln>
        </p:spPr>
        <p:txBody>
          <a:bodyPr anchorCtr="0" anchor="t" bIns="91425" lIns="91425" spcFirstLastPara="1" rIns="91425" wrap="square" tIns="91425">
            <a:noAutofit/>
          </a:bodyPr>
          <a:lstStyle/>
          <a:p>
            <a:pPr indent="0" lvl="0" marL="0" marR="419100" rtl="0" algn="l">
              <a:lnSpc>
                <a:spcPct val="115000"/>
              </a:lnSpc>
              <a:spcBef>
                <a:spcPts val="0"/>
              </a:spcBef>
              <a:spcAft>
                <a:spcPts val="0"/>
              </a:spcAft>
              <a:buSzPts val="1200"/>
              <a:buNone/>
            </a:pPr>
            <a:r>
              <a:rPr lang="en" u="sng">
                <a:solidFill>
                  <a:schemeClr val="accent5"/>
                </a:solidFill>
                <a:hlinkClick r:id="rId3">
                  <a:extLst>
                    <a:ext uri="{A12FA001-AC4F-418D-AE19-62706E023703}">
                      <ahyp:hlinkClr val="tx"/>
                    </a:ext>
                  </a:extLst>
                </a:hlinkClick>
              </a:rPr>
              <a:t>Databricks Sample Connection</a:t>
            </a:r>
            <a:endParaRPr>
              <a:solidFill>
                <a:schemeClr val="accent5"/>
              </a:solidFill>
            </a:endParaRPr>
          </a:p>
          <a:p>
            <a:pPr indent="0" lvl="0" marL="0" marR="419100" rtl="0" algn="l">
              <a:lnSpc>
                <a:spcPct val="115000"/>
              </a:lnSpc>
              <a:spcBef>
                <a:spcPts val="0"/>
              </a:spcBef>
              <a:spcAft>
                <a:spcPts val="0"/>
              </a:spcAft>
              <a:buSzPts val="1200"/>
              <a:buNone/>
            </a:pPr>
            <a:r>
              <a:rPr lang="en" sz="1100">
                <a:solidFill>
                  <a:schemeClr val="dk1"/>
                </a:solidFill>
              </a:rPr>
              <a:t>The Sigma Sample Catalog, a sample Databricks connection, is now available to all Sigma organizations upon request for testing and development purposes. This gives teams a ready-made environment to explore Sigma's Databricks integration without needing to configure their own connection.</a:t>
            </a:r>
            <a:endParaRPr sz="1100">
              <a:solidFill>
                <a:schemeClr val="dk1"/>
              </a:solidFill>
            </a:endParaRPr>
          </a:p>
          <a:p>
            <a:pPr indent="0" lvl="0" marL="0" marR="419100" rtl="0" algn="l">
              <a:lnSpc>
                <a:spcPct val="115000"/>
              </a:lnSpc>
              <a:spcBef>
                <a:spcPts val="0"/>
              </a:spcBef>
              <a:spcAft>
                <a:spcPts val="0"/>
              </a:spcAft>
              <a:buSzPts val="1200"/>
              <a:buNone/>
            </a:pPr>
            <a:r>
              <a:t/>
            </a:r>
            <a:endParaRPr u="sng"/>
          </a:p>
          <a:p>
            <a:pPr indent="0" lvl="0" marL="0" marR="419100" rtl="0" algn="l">
              <a:lnSpc>
                <a:spcPct val="115000"/>
              </a:lnSpc>
              <a:spcBef>
                <a:spcPts val="0"/>
              </a:spcBef>
              <a:spcAft>
                <a:spcPts val="0"/>
              </a:spcAft>
              <a:buSzPts val="1200"/>
              <a:buNone/>
            </a:pPr>
            <a:r>
              <a:rPr lang="en" u="sng">
                <a:solidFill>
                  <a:schemeClr val="accent5"/>
                </a:solidFill>
              </a:rPr>
              <a:t>Sigma Templates Refinement</a:t>
            </a:r>
            <a:endParaRPr>
              <a:solidFill>
                <a:schemeClr val="accent5"/>
              </a:solidFill>
            </a:endParaRPr>
          </a:p>
          <a:p>
            <a:pPr indent="0" lvl="0" marL="0" marR="419100" rtl="0" algn="l">
              <a:lnSpc>
                <a:spcPct val="115000"/>
              </a:lnSpc>
              <a:spcBef>
                <a:spcPts val="0"/>
              </a:spcBef>
              <a:spcAft>
                <a:spcPts val="0"/>
              </a:spcAft>
              <a:buSzPts val="1200"/>
              <a:buNone/>
            </a:pPr>
            <a:r>
              <a:rPr lang="en" sz="1100">
                <a:solidFill>
                  <a:schemeClr val="dk1"/>
                </a:solidFill>
              </a:rPr>
              <a:t>To ensure that the available Sigma templates shared to every organization are relevant and high quality, some Sigma-provided templates are now hidden from the list. </a:t>
            </a:r>
            <a:endParaRPr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31"/>
          <p:cNvSpPr txBox="1"/>
          <p:nvPr>
            <p:ph type="title"/>
          </p:nvPr>
        </p:nvSpPr>
        <p:spPr>
          <a:xfrm>
            <a:off x="150975" y="85375"/>
            <a:ext cx="6028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New QuickStarts in May</a:t>
            </a:r>
            <a:endParaRPr/>
          </a:p>
        </p:txBody>
      </p:sp>
      <p:sp>
        <p:nvSpPr>
          <p:cNvPr id="75" name="Google Shape;75;p131"/>
          <p:cNvSpPr txBox="1"/>
          <p:nvPr>
            <p:ph idx="1" type="body"/>
          </p:nvPr>
        </p:nvSpPr>
        <p:spPr>
          <a:xfrm>
            <a:off x="150975" y="696350"/>
            <a:ext cx="8697000" cy="3863400"/>
          </a:xfrm>
          <a:prstGeom prst="rect">
            <a:avLst/>
          </a:prstGeom>
          <a:noFill/>
          <a:ln>
            <a:noFill/>
          </a:ln>
        </p:spPr>
        <p:txBody>
          <a:bodyPr anchorCtr="0" anchor="t" bIns="91425" lIns="91425" spcFirstLastPara="1" rIns="91425" wrap="square" tIns="91425">
            <a:noAutofit/>
          </a:bodyPr>
          <a:lstStyle/>
          <a:p>
            <a:pPr indent="0" lvl="0" marL="0" marR="419100" rtl="0" algn="l">
              <a:lnSpc>
                <a:spcPct val="115000"/>
              </a:lnSpc>
              <a:spcBef>
                <a:spcPts val="0"/>
              </a:spcBef>
              <a:spcAft>
                <a:spcPts val="0"/>
              </a:spcAft>
              <a:buSzPts val="1400"/>
              <a:buNone/>
            </a:pPr>
            <a:r>
              <a:rPr lang="en" u="sng">
                <a:solidFill>
                  <a:schemeClr val="hlink"/>
                </a:solidFill>
                <a:hlinkClick r:id="rId3"/>
              </a:rPr>
              <a:t>Sigma Skills for AI Assistants</a:t>
            </a:r>
            <a:endParaRPr/>
          </a:p>
          <a:p>
            <a:pPr indent="0" lvl="0" marL="0" marR="419100" rtl="0" algn="l">
              <a:lnSpc>
                <a:spcPct val="115000"/>
              </a:lnSpc>
              <a:spcBef>
                <a:spcPts val="0"/>
              </a:spcBef>
              <a:spcAft>
                <a:spcPts val="0"/>
              </a:spcAft>
              <a:buSzPts val="1400"/>
              <a:buNone/>
            </a:pPr>
            <a:r>
              <a:rPr lang="en" sz="1100"/>
              <a:t>This QuickStart</a:t>
            </a:r>
            <a:r>
              <a:rPr lang="en" sz="1100">
                <a:solidFill>
                  <a:schemeClr val="dk1"/>
                </a:solidFill>
              </a:rPr>
              <a:t> shows how to install and use Sigma's open-source agent skills in Claude Code so an AI assistant can authenticate to Sigma, call the REST API, and build data models through natural-language prompts.</a:t>
            </a:r>
            <a:endParaRPr sz="1100">
              <a:solidFill>
                <a:schemeClr val="dk1"/>
              </a:solidFill>
            </a:endParaRPr>
          </a:p>
          <a:p>
            <a:pPr indent="0" lvl="0" marL="0" marR="419100" rtl="0" algn="l">
              <a:lnSpc>
                <a:spcPct val="115000"/>
              </a:lnSpc>
              <a:spcBef>
                <a:spcPts val="0"/>
              </a:spcBef>
              <a:spcAft>
                <a:spcPts val="0"/>
              </a:spcAft>
              <a:buSzPts val="1400"/>
              <a:buNone/>
            </a:pPr>
            <a:r>
              <a:t/>
            </a:r>
            <a:endParaRPr sz="1100">
              <a:solidFill>
                <a:schemeClr val="dk1"/>
              </a:solidFill>
              <a:latin typeface="Arial"/>
              <a:ea typeface="Arial"/>
              <a:cs typeface="Arial"/>
              <a:sym typeface="Arial"/>
            </a:endParaRPr>
          </a:p>
          <a:p>
            <a:pPr indent="0" lvl="0" marL="0" marR="419100" rtl="0" algn="l">
              <a:lnSpc>
                <a:spcPct val="115000"/>
              </a:lnSpc>
              <a:spcBef>
                <a:spcPts val="0"/>
              </a:spcBef>
              <a:spcAft>
                <a:spcPts val="0"/>
              </a:spcAft>
              <a:buClr>
                <a:schemeClr val="dk1"/>
              </a:buClr>
              <a:buSzPts val="1100"/>
              <a:buFont typeface="Arial"/>
              <a:buNone/>
            </a:pPr>
            <a:r>
              <a:rPr b="1" i="1" lang="en" sz="1200" u="sng">
                <a:solidFill>
                  <a:schemeClr val="dk1"/>
                </a:solidFill>
              </a:rPr>
              <a:t>Why it matters:</a:t>
            </a:r>
            <a:endParaRPr b="1" i="1" sz="1200" u="sng">
              <a:solidFill>
                <a:schemeClr val="dk1"/>
              </a:solidFill>
            </a:endParaRPr>
          </a:p>
          <a:p>
            <a:pPr indent="0" lvl="0" marL="0" marR="419100" rtl="0" algn="l">
              <a:lnSpc>
                <a:spcPct val="115000"/>
              </a:lnSpc>
              <a:spcBef>
                <a:spcPts val="0"/>
              </a:spcBef>
              <a:spcAft>
                <a:spcPts val="0"/>
              </a:spcAft>
              <a:buSzPts val="1400"/>
              <a:buNone/>
            </a:pPr>
            <a:r>
              <a:rPr lang="en" sz="1100"/>
              <a:t>This is the "API + agent" pattern in practice — open-source skills give any supported AI assistant the context to handle authentication, call the right endpoints, and follow Sigma's conventions. Developers and technical analysts manage workbooks, members, and data models through plain-language prompts while permissions and audit trails stay with Sigma. Each data model edit becomes a versioned JSON artifact your team can diff, review, and redeploy.</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2"/>
          <p:cNvSpPr txBox="1"/>
          <p:nvPr>
            <p:ph type="title"/>
          </p:nvPr>
        </p:nvSpPr>
        <p:spPr>
          <a:xfrm>
            <a:off x="150975" y="85375"/>
            <a:ext cx="6028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500"/>
              <a:buNone/>
            </a:pPr>
            <a:r>
              <a:rPr lang="en"/>
              <a:t>Bug Fixes</a:t>
            </a:r>
            <a:endParaRPr/>
          </a:p>
        </p:txBody>
      </p:sp>
      <p:sp>
        <p:nvSpPr>
          <p:cNvPr id="81" name="Google Shape;81;p132"/>
          <p:cNvSpPr txBox="1"/>
          <p:nvPr>
            <p:ph idx="1" type="body"/>
          </p:nvPr>
        </p:nvSpPr>
        <p:spPr>
          <a:xfrm>
            <a:off x="42975" y="658075"/>
            <a:ext cx="8919900" cy="3863400"/>
          </a:xfrm>
          <a:prstGeom prst="rect">
            <a:avLst/>
          </a:prstGeom>
          <a:noFill/>
          <a:ln>
            <a:noFill/>
          </a:ln>
        </p:spPr>
        <p:txBody>
          <a:bodyPr anchorCtr="0" anchor="t" bIns="91425" lIns="91425" spcFirstLastPara="1" rIns="91425" wrap="square" tIns="91425">
            <a:noAutofit/>
          </a:bodyPr>
          <a:lstStyle/>
          <a:p>
            <a:pPr indent="-304800" lvl="0" marL="457200" marR="419100" rtl="0" algn="l">
              <a:lnSpc>
                <a:spcPct val="150000"/>
              </a:lnSpc>
              <a:spcBef>
                <a:spcPts val="0"/>
              </a:spcBef>
              <a:spcAft>
                <a:spcPts val="0"/>
              </a:spcAft>
              <a:buSzPts val="1200"/>
              <a:buAutoNum type="arabicPeriod"/>
            </a:pPr>
            <a:r>
              <a:rPr b="1" lang="en" sz="1200"/>
              <a:t>Invalid Image URL Warning</a:t>
            </a:r>
            <a:r>
              <a:rPr lang="en" sz="1200"/>
              <a:t> — The editor now displays an Invalid image URL alert when background image URLs are malformed.</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g3e4b3e1e7cb_0_4"/>
          <p:cNvSpPr txBox="1"/>
          <p:nvPr>
            <p:ph idx="4294967295" type="title"/>
          </p:nvPr>
        </p:nvSpPr>
        <p:spPr>
          <a:xfrm>
            <a:off x="255775" y="215350"/>
            <a:ext cx="4631700" cy="6186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4000"/>
              <a:buNone/>
            </a:pPr>
            <a:r>
              <a:rPr lang="en" sz="2800">
                <a:solidFill>
                  <a:schemeClr val="lt1"/>
                </a:solidFill>
              </a:rPr>
              <a:t>Additional Resources</a:t>
            </a:r>
            <a:endParaRPr sz="2800">
              <a:solidFill>
                <a:schemeClr val="lt1"/>
              </a:solidFill>
            </a:endParaRPr>
          </a:p>
        </p:txBody>
      </p:sp>
      <p:pic>
        <p:nvPicPr>
          <p:cNvPr id="87" name="Google Shape;87;g3e4b3e1e7cb_0_4">
            <a:hlinkClick r:id="rId3"/>
          </p:cNvPr>
          <p:cNvPicPr preferRelativeResize="0"/>
          <p:nvPr/>
        </p:nvPicPr>
        <p:blipFill rotWithShape="1">
          <a:blip r:embed="rId4">
            <a:alphaModFix/>
          </a:blip>
          <a:srcRect b="0" l="0" r="0" t="0"/>
          <a:stretch/>
        </p:blipFill>
        <p:spPr>
          <a:xfrm>
            <a:off x="1668675" y="2859850"/>
            <a:ext cx="1266825" cy="1266825"/>
          </a:xfrm>
          <a:prstGeom prst="rect">
            <a:avLst/>
          </a:prstGeom>
          <a:noFill/>
          <a:ln>
            <a:noFill/>
          </a:ln>
        </p:spPr>
      </p:pic>
      <p:pic>
        <p:nvPicPr>
          <p:cNvPr id="88" name="Google Shape;88;g3e4b3e1e7cb_0_4">
            <a:hlinkClick r:id="rId5"/>
          </p:cNvPr>
          <p:cNvPicPr preferRelativeResize="0"/>
          <p:nvPr/>
        </p:nvPicPr>
        <p:blipFill rotWithShape="1">
          <a:blip r:embed="rId6">
            <a:alphaModFix/>
          </a:blip>
          <a:srcRect b="0" l="0" r="0" t="0"/>
          <a:stretch/>
        </p:blipFill>
        <p:spPr>
          <a:xfrm>
            <a:off x="3123200" y="2859863"/>
            <a:ext cx="1266825" cy="1266825"/>
          </a:xfrm>
          <a:prstGeom prst="rect">
            <a:avLst/>
          </a:prstGeom>
          <a:noFill/>
          <a:ln>
            <a:noFill/>
          </a:ln>
        </p:spPr>
      </p:pic>
      <p:pic>
        <p:nvPicPr>
          <p:cNvPr id="89" name="Google Shape;89;g3e4b3e1e7cb_0_4">
            <a:hlinkClick r:id="rId7"/>
          </p:cNvPr>
          <p:cNvPicPr preferRelativeResize="0"/>
          <p:nvPr/>
        </p:nvPicPr>
        <p:blipFill rotWithShape="1">
          <a:blip r:embed="rId8">
            <a:alphaModFix/>
          </a:blip>
          <a:srcRect b="10405" l="13111" r="12771" t="12003"/>
          <a:stretch/>
        </p:blipFill>
        <p:spPr>
          <a:xfrm>
            <a:off x="255775" y="2830163"/>
            <a:ext cx="1266824" cy="1326207"/>
          </a:xfrm>
          <a:prstGeom prst="rect">
            <a:avLst/>
          </a:prstGeom>
          <a:noFill/>
          <a:ln>
            <a:noFill/>
          </a:ln>
        </p:spPr>
      </p:pic>
      <p:sp>
        <p:nvSpPr>
          <p:cNvPr id="90" name="Google Shape;90;g3e4b3e1e7cb_0_4"/>
          <p:cNvSpPr txBox="1"/>
          <p:nvPr/>
        </p:nvSpPr>
        <p:spPr>
          <a:xfrm>
            <a:off x="215975" y="1086700"/>
            <a:ext cx="4874100" cy="1520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950"/>
              <a:buFont typeface="Arial"/>
              <a:buNone/>
            </a:pPr>
            <a:r>
              <a:rPr b="0" i="0" lang="en" sz="1950" u="none" cap="none" strike="noStrike">
                <a:solidFill>
                  <a:schemeClr val="lt1"/>
                </a:solidFill>
                <a:uFill>
                  <a:noFill/>
                </a:uFill>
                <a:latin typeface="Roboto"/>
                <a:ea typeface="Roboto"/>
                <a:cs typeface="Roboto"/>
                <a:sym typeface="Roboto"/>
                <a:hlinkClick r:id="rId9">
                  <a:extLst>
                    <a:ext uri="{A12FA001-AC4F-418D-AE19-62706E023703}">
                      <ahyp:hlinkClr val="tx"/>
                    </a:ext>
                  </a:extLst>
                </a:hlinkClick>
              </a:rPr>
              <a:t>Blog</a:t>
            </a:r>
            <a:endParaRPr b="0" i="0" sz="1950" u="none" cap="none" strike="noStrike">
              <a:solidFill>
                <a:schemeClr val="lt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950"/>
              <a:buFont typeface="Arial"/>
              <a:buNone/>
            </a:pPr>
            <a:r>
              <a:rPr b="0" i="0" lang="en" sz="1950" u="none" cap="none" strike="noStrike">
                <a:solidFill>
                  <a:schemeClr val="lt1"/>
                </a:solidFill>
                <a:uFill>
                  <a:noFill/>
                </a:uFill>
                <a:latin typeface="Roboto"/>
                <a:ea typeface="Roboto"/>
                <a:cs typeface="Roboto"/>
                <a:sym typeface="Roboto"/>
                <a:hlinkClick r:id="rId10">
                  <a:extLst>
                    <a:ext uri="{A12FA001-AC4F-418D-AE19-62706E023703}">
                      <ahyp:hlinkClr val="tx"/>
                    </a:ext>
                  </a:extLst>
                </a:hlinkClick>
              </a:rPr>
              <a:t>Community</a:t>
            </a:r>
            <a:endParaRPr b="0" i="0" sz="1950" u="none" cap="none" strike="noStrike">
              <a:solidFill>
                <a:schemeClr val="lt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950"/>
              <a:buFont typeface="Arial"/>
              <a:buNone/>
            </a:pPr>
            <a:r>
              <a:rPr b="0" i="0" lang="en" sz="1950" u="none" cap="none" strike="noStrike">
                <a:solidFill>
                  <a:schemeClr val="lt1"/>
                </a:solidFill>
                <a:uFill>
                  <a:noFill/>
                </a:uFill>
                <a:latin typeface="Roboto"/>
                <a:ea typeface="Roboto"/>
                <a:cs typeface="Roboto"/>
                <a:sym typeface="Roboto"/>
                <a:hlinkClick r:id="rId11">
                  <a:extLst>
                    <a:ext uri="{A12FA001-AC4F-418D-AE19-62706E023703}">
                      <ahyp:hlinkClr val="tx"/>
                    </a:ext>
                  </a:extLst>
                </a:hlinkClick>
              </a:rPr>
              <a:t>Help Center</a:t>
            </a:r>
            <a:endParaRPr b="0" i="0" sz="195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950"/>
              <a:buFont typeface="Arial"/>
              <a:buNone/>
            </a:pPr>
            <a:r>
              <a:rPr b="0" i="0" lang="en" sz="1950" u="none" cap="none" strike="noStrike">
                <a:solidFill>
                  <a:schemeClr val="lt1"/>
                </a:solidFill>
                <a:uFill>
                  <a:noFill/>
                </a:uFill>
                <a:latin typeface="Roboto"/>
                <a:ea typeface="Roboto"/>
                <a:cs typeface="Roboto"/>
                <a:sym typeface="Roboto"/>
                <a:hlinkClick r:id="rId12">
                  <a:extLst>
                    <a:ext uri="{A12FA001-AC4F-418D-AE19-62706E023703}">
                      <ahyp:hlinkClr val="tx"/>
                    </a:ext>
                  </a:extLst>
                </a:hlinkClick>
              </a:rPr>
              <a:t>QuickStarts</a:t>
            </a:r>
            <a:endParaRPr b="0" i="0" sz="2300"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